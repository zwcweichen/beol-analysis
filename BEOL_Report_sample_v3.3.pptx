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BEOL 分析戰報：FAB15 vs FAB18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087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FAB15 CIP（397pcs） vs FAB18 BSL（3174pcs）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資料：WAT_FAB_compare.xlsx　期間 2026/04/01–2026/10/01　分組：Part6（4 組）</a:t>
            </a:r>
            <a:pPr indent="0" marL="0">
              <a:spcAft>
                <a:spcPts val="400"/>
              </a:spcAft>
              <a:buNone/>
            </a:pP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WAT：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 3、黃 3、綠 25、灰 1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SPA_M12@TMRX12 +16.2%pt、SPA_M13@TMRX12 +8.0%pt、Rc_V12@TMTQ11 +2.33σ、LK_M12@TMRX12 ×2.96、Con_M13@TMWF54 +1.38σ、SPA_M13@TMWF54 +2.9%pt</a:t>
            </a:r>
            <a:pPr indent="0" marL="0">
              <a:spcAft>
                <a:spcPts val="400"/>
              </a:spcAft>
              <a:buNone/>
            </a:pP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Inline：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 3、黃 0、綠 21、變異異常 2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V12 CD AEI@TMTQ11 −2.79σ，W2W σ ×1.46、M12 CD AEI@TMRX12 +2.18σ、M13 THK@TMWF54 −1.63σ、M12 CD AEI@TMWF54 W2W σ ×1.42</a:t>
            </a:r>
            <a:pPr indent="0" marL="0">
              <a:spcAft>
                <a:spcPts val="400"/>
              </a:spcAft>
              <a:buNone/>
            </a:pP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Yield：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 1、黃 2、綠 9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Bin7_open@TMTQ11 +2.25σ、Yield@TMTQ11 −1.29σ、Bin3_short@TMRX12 +1.29σ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3630168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F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3566160"/>
            <a:ext cx="524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條件與顏色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931920"/>
            <a:ext cx="237744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3931920"/>
            <a:ext cx="9509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99616" y="3931920"/>
            <a:ext cx="1389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(3174)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178808"/>
            <a:ext cx="237744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4178808"/>
            <a:ext cx="9509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99616" y="4178808"/>
            <a:ext cx="1389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 (397)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3931920"/>
            <a:ext cx="8348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燈號：K 綠 ≤ 1σ、橘 &gt; 1.5σ；LK 倍數 綠 ≤ ×2、橘 &gt; ×5；SPA 異常率差 綠 ≤ 2%pt、橘 &gt; 5%pt；變異 σ 倍數 綠 ≤ ×1.3、橘 &gt; ×1.6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5093208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F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5029200"/>
            <a:ext cx="524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分組 Part6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TMRF89（FAB15 55 / BSL 732）　TMRX12（FAB15 47 / BSL 653）　TMTQ11（FAB15 80 / BSL 836）　TMWF54（FAB15 215 / BSL 953）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 點燈表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FAB15（397pcs） vs FAB18（3174pcs）：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 3、黃 3、綠 25、灰 1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數字 = K-shift（σ）；LK 為 median 倍數；SPA 為異常率差（%pt）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08276" y="1371600"/>
          <a:ext cx="77724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463040"/>
                <a:gridCol w="1463040"/>
                <a:gridCol w="1463040"/>
                <a:gridCol w="146304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WAT item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Part6 →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TMRF89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TMRX12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TMTQ11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TMWF54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BF"/>
                    </a:solidFill>
                  </a:tcPr>
                </a:tc>
              </a:tr>
              <a:tr h="310896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Rs（金屬線阻值）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Con_M12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−0.57σ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−0.88σ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−0.29σ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+0.22σ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Con_M13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+0.38σ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−0.35σ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+0.13σ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86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+1.38σ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8"/>
                    </a:solidFill>
                  </a:tcPr>
                </a:tc>
              </a:tr>
              <a:tr h="310896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LK（線間漏電）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LK_M12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×1.19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86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×2.96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×0.92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×0.99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LK_M13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×0.71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×1.36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×1.20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×1.12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Rc（Via／Contact 阻值）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Rc_V11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−0.43σ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+0.29σ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+0.26σ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−0.10σ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Rc_V12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−0.08σ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−0.31σ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+2.33σ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−0.09σ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SPA（線間漏電，電壓輸出）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SPA_M12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−0.8%pt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+16.2%pt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−1.7%pt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−0.3%pt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SPA_M13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080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+8.0%pt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−0.8%pt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86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+2.9%pt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 HL 總表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個 HL：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 3、黃 3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✔ 有對上　○ 缺資料　△ 關聯弱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2103120"/>
                <a:gridCol w="1737360"/>
                <a:gridCol w="4370832"/>
                <a:gridCol w="237744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燈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B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WAT item @ 組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B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偏移（pcs）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B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對上什麼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B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先查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B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橘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SPA_M12 @ TMRX12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FAB15 +16.2%pt (47)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同層 M12 CD AEI +2.18σ 有關聯；機台／chamber 疑似 V12_ETCH_CH = CH_A（V12 層機台，非本層）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橘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SPA_M13 @ TMRX12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FAB15 +8.0%pt (47)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同層 M13 CD AEI +0.66σ 有關聯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橘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Rc_V12 @ TMTQ11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FAB15 +2.33σ (80)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同層 V12 CD AEI −2.79σ 有關聯；同組 yield／bin Yield −1.29σ 有關聯；機台／chamber 疑似 V12_ETCH_CH = CH_B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86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黃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LK_M12 @ TMRX12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886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FAB15 ×2.96 (47)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同層 M12 CD AEI +2.18σ 有關聯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86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黃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Con_M13 @ TMWF54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886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FAB15 +1.38σ (215)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同層 M13 THK −1.63σ 有關聯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86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黃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SPA_M13 @ TMWF54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886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FAB15 +2.9%pt (215)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未對上 inline／機台／yield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SPA_M12 @ TMRX12：FAB15 +16.2%pt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SPA_M12 @ TMRX12：FAB15 +16.2%pt（47pcs） vs FAB18 BSL（653pcs），異常率 19% vs BSL 2.9%（固定值 20）</a:t>
            </a:r>
            <a:pPr indent="0" marL="0">
              <a:spcAft>
                <a:spcPts val="400"/>
              </a:spcAft>
              <a:buNone/>
            </a:pP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同層 M12 CD AEI +2.18σ 有關聯；機台／chamber 疑似 V12_ETCH_CH = CH_A（V12 層機台，非本層）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55648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F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691640"/>
            <a:ext cx="5637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SPA_M12 trend ｜ TMRX12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46304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2103120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33856" y="2103120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(653)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350008"/>
            <a:ext cx="146304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2350008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33856" y="2350008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+16.2%pt (47)</a:t>
            </a:r>
            <a:endParaRPr lang="en-US" sz="10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2011680"/>
            <a:ext cx="4320540" cy="192024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48640" y="4224528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FB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6384" y="4160520"/>
            <a:ext cx="5637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SPA_M12 vs M12 CD AEI ｜ 關聯性不大，預期負相關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4572000"/>
            <a:ext cx="146304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5216" y="4572000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33856" y="4572000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48640" y="4818888"/>
            <a:ext cx="146304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5216" y="4818888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33856" y="4818888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關聯弱</a:t>
            </a:r>
            <a:endParaRPr lang="en-US" sz="10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4480560"/>
            <a:ext cx="4320540" cy="1920240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6789420" y="1755648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FB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027164" y="1691640"/>
            <a:ext cx="46131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建議檢查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6789420" y="2057400"/>
            <a:ext cx="485089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✔  同層 M12 CD AEI　+2.18σ 有關聯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✘  同組 yield／bin　Yield −0.44σ 未偏移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✔  機台／chamber　疑似 V12_ETCH_CH = CH_A（V12 層機台，非本層）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6789420" y="4361688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FB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027164" y="4297680"/>
            <a:ext cx="46131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同組其他 item ｜ FAB15 vs FAB18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89420" y="4663440"/>
          <a:ext cx="4850892" cy="914400"/>
        </p:xfrm>
        <a:graphic>
          <a:graphicData uri="http://schemas.openxmlformats.org/drawingml/2006/table">
            <a:tbl>
              <a:tblPr/>
              <a:tblGrid>
                <a:gridCol w="2910535"/>
                <a:gridCol w="1940357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item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FAB15 vs FAB18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LK_M12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B886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×2.96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Bin3_short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B886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+1.29σ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SPA_M13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+8.0%pt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Con_M12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−0.88σ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LK_M13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×1.36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Yield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−0.44σ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SPA_M13 @ TMRX12：FAB15 +8.0%pt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SPA_M13 @ TMRX12：FAB15 +8.0%pt（47pcs） vs FAB18 BSL（653pcs），異常率 11% vs BSL 2.6%（固定值 20）</a:t>
            </a:r>
            <a:pPr indent="0" marL="0">
              <a:spcAft>
                <a:spcPts val="400"/>
              </a:spcAft>
              <a:buNone/>
            </a:pP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同層 M13 CD AEI +0.66σ 有關聯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55648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F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691640"/>
            <a:ext cx="5637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SPA_M13 trend ｜ TMRX12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46304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2103120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33856" y="2103120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(653)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350008"/>
            <a:ext cx="146304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2350008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33856" y="2350008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+8.0%pt (47)</a:t>
            </a:r>
            <a:endParaRPr lang="en-US" sz="10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2011680"/>
            <a:ext cx="4320540" cy="192024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48640" y="4224528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FB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6384" y="4160520"/>
            <a:ext cx="5637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SPA_M13 vs M13 CD AEI ｜ 關聯性不大，預期負相關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4572000"/>
            <a:ext cx="146304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5216" y="4572000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33856" y="4572000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48640" y="4818888"/>
            <a:ext cx="146304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5216" y="4818888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33856" y="4818888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關聯弱</a:t>
            </a:r>
            <a:endParaRPr lang="en-US" sz="10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4480560"/>
            <a:ext cx="4320540" cy="1920240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6789420" y="1755648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FB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027164" y="1691640"/>
            <a:ext cx="46131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建議檢查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6789420" y="2057400"/>
            <a:ext cx="485089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✔  同層 M13 CD AEI　+0.66σ 有關聯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✘  鄰層 M12 THK　+0.22σ 未偏移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✘  同組 yield／bin　Yield −0.44σ 未偏移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✘  機台／chamber　已掃 3 個欄位，沒有明顯 bad tool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6789420" y="4361688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FB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027164" y="4297680"/>
            <a:ext cx="46131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同組其他 item ｜ FAB15 vs FAB18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89420" y="4663440"/>
          <a:ext cx="4850892" cy="914400"/>
        </p:xfrm>
        <a:graphic>
          <a:graphicData uri="http://schemas.openxmlformats.org/drawingml/2006/table">
            <a:tbl>
              <a:tblPr/>
              <a:tblGrid>
                <a:gridCol w="2910535"/>
                <a:gridCol w="1940357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item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FAB15 vs FAB18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LK_M12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B886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×2.96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Bin3_short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B886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+1.29σ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SPA_M12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+16.2%pt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Con_M12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−0.88σ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LK_M13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×1.36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Yield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−0.44σ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Rc_V12 @ TMTQ11：FAB15 +2.33σ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Rc_V12 @ TMTQ11：FAB15 +2.33σ（80pcs） vs FAB18 BSL（836pcs），mean 10.18 vs BSL 9.009</a:t>
            </a:r>
            <a:pPr indent="0" marL="0">
              <a:spcAft>
                <a:spcPts val="400"/>
              </a:spcAft>
              <a:buNone/>
            </a:pP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同層 V12 CD AEI −2.79σ 有關聯；同組 yield／bin Yield −1.29σ 有關聯；機台／chamber 疑似 V12_ETCH_CH = CH_B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55648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F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691640"/>
            <a:ext cx="5637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Rc_V12 trend ｜ TMTQ11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46304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2103120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33856" y="2103120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(836)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350008"/>
            <a:ext cx="146304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2350008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33856" y="2350008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+2.33σ (80)</a:t>
            </a:r>
            <a:endParaRPr lang="en-US" sz="10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2011680"/>
            <a:ext cx="4320540" cy="192024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48640" y="4224528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FB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6384" y="4160520"/>
            <a:ext cx="5637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Rc_V12 vs V12 CD AEI ｜ 有關聯，預期負相關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4572000"/>
            <a:ext cx="146304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5216" y="4572000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33856" y="4572000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48640" y="4818888"/>
            <a:ext cx="146304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5216" y="4818888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33856" y="4818888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有關聯</a:t>
            </a:r>
            <a:endParaRPr lang="en-US" sz="10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4480560"/>
            <a:ext cx="4320540" cy="1920240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6789420" y="1755648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FB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027164" y="1691640"/>
            <a:ext cx="46131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建議檢查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6789420" y="2057400"/>
            <a:ext cx="485089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✔  同層 V12 CD AEI　−2.79σ 有關聯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✘  鄰層 M12 THK　+0.26σ 未偏移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✘  鄰層 M13 THK　−0.25σ 未偏移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✔  同組 yield／bin　Yield −1.29σ 有關聯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✔  機台／chamber　疑似 V12_ETCH_CH = CH_B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6789420" y="4361688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FB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027164" y="4297680"/>
            <a:ext cx="46131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同組其他 item ｜ FAB15 vs FAB18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89420" y="4663440"/>
          <a:ext cx="4850892" cy="914400"/>
        </p:xfrm>
        <a:graphic>
          <a:graphicData uri="http://schemas.openxmlformats.org/drawingml/2006/table">
            <a:tbl>
              <a:tblPr/>
              <a:tblGrid>
                <a:gridCol w="2910535"/>
                <a:gridCol w="1940357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item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FAB15 vs FAB18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Bin7_open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+2.25σ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Yield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B886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−1.29σ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Con_M12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−0.29σ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Rc_V11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+0.26σ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LK_M13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×1.20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Con_M13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+0.13σ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 總覽 trend（附錄：綠燈 item） ｜ TMRF89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TMRF89：FAB15（55pcs） vs FAB18（732pcs）：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綠燈 item 8 個，全部 within 門檻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Con_M12（OHM/SQ）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645920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24128" y="164592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(732)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892808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189280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24128" y="1892808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−0.57σ (55)</a:t>
            </a:r>
            <a:endParaRPr lang="en-US" sz="9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627632"/>
            <a:ext cx="2295144" cy="127998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306824" y="1371600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Con_M13（OHM/SQ）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306824" y="1645920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43400" y="1645920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782312" y="164592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(732)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306824" y="1892808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343400" y="189280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782312" y="1892808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+0.38σ (55)</a:t>
            </a:r>
            <a:endParaRPr lang="en-US" sz="9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6984" y="1627632"/>
            <a:ext cx="2295144" cy="127998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065008" y="1371600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LK_M12（A）・log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8065008" y="1645920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101584" y="1645920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8540496" y="164592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(732)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8065008" y="1892808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101584" y="189280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8540496" y="1892808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×1.19 (55)</a:t>
            </a:r>
            <a:endParaRPr lang="en-US" sz="90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5168" y="1627632"/>
            <a:ext cx="2295144" cy="1279984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48640" y="3108960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LK_M13（A）・log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548640" y="3383280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585216" y="3383280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1024128" y="338328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(732)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548640" y="3630168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585216" y="363016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1024128" y="3630168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×0.71 (55)</a:t>
            </a:r>
            <a:endParaRPr lang="en-US" sz="900" dirty="0"/>
          </a:p>
        </p:txBody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364992"/>
            <a:ext cx="2295144" cy="1279984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4306824" y="3108960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Rc_V11（OHM）</a:t>
            </a:r>
            <a:endParaRPr lang="en-US" sz="1050" dirty="0"/>
          </a:p>
        </p:txBody>
      </p:sp>
      <p:sp>
        <p:nvSpPr>
          <p:cNvPr id="39" name="Shape 33"/>
          <p:cNvSpPr/>
          <p:nvPr/>
        </p:nvSpPr>
        <p:spPr>
          <a:xfrm>
            <a:off x="4306824" y="3383280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4343400" y="3383280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4782312" y="338328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(732)</a:t>
            </a:r>
            <a:endParaRPr lang="en-US" sz="900" dirty="0"/>
          </a:p>
        </p:txBody>
      </p:sp>
      <p:sp>
        <p:nvSpPr>
          <p:cNvPr id="42" name="Shape 36"/>
          <p:cNvSpPr/>
          <p:nvPr/>
        </p:nvSpPr>
        <p:spPr>
          <a:xfrm>
            <a:off x="4306824" y="3630168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4343400" y="363016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900" dirty="0"/>
          </a:p>
        </p:txBody>
      </p:sp>
      <p:sp>
        <p:nvSpPr>
          <p:cNvPr id="44" name="Text 38"/>
          <p:cNvSpPr/>
          <p:nvPr/>
        </p:nvSpPr>
        <p:spPr>
          <a:xfrm>
            <a:off x="4782312" y="3630168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−0.43σ (55)</a:t>
            </a:r>
            <a:endParaRPr lang="en-US" sz="900" dirty="0"/>
          </a:p>
        </p:txBody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6984" y="3364992"/>
            <a:ext cx="2295144" cy="1279984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8065008" y="3108960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Rc_V12（OHM）</a:t>
            </a:r>
            <a:endParaRPr lang="en-US" sz="1050" dirty="0"/>
          </a:p>
        </p:txBody>
      </p:sp>
      <p:sp>
        <p:nvSpPr>
          <p:cNvPr id="47" name="Shape 40"/>
          <p:cNvSpPr/>
          <p:nvPr/>
        </p:nvSpPr>
        <p:spPr>
          <a:xfrm>
            <a:off x="8065008" y="3383280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8101584" y="3383280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900" dirty="0"/>
          </a:p>
        </p:txBody>
      </p:sp>
      <p:sp>
        <p:nvSpPr>
          <p:cNvPr id="49" name="Text 42"/>
          <p:cNvSpPr/>
          <p:nvPr/>
        </p:nvSpPr>
        <p:spPr>
          <a:xfrm>
            <a:off x="8540496" y="338328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(732)</a:t>
            </a:r>
            <a:endParaRPr lang="en-US" sz="900" dirty="0"/>
          </a:p>
        </p:txBody>
      </p:sp>
      <p:sp>
        <p:nvSpPr>
          <p:cNvPr id="50" name="Shape 43"/>
          <p:cNvSpPr/>
          <p:nvPr/>
        </p:nvSpPr>
        <p:spPr>
          <a:xfrm>
            <a:off x="8065008" y="3630168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8101584" y="363016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900" dirty="0"/>
          </a:p>
        </p:txBody>
      </p:sp>
      <p:sp>
        <p:nvSpPr>
          <p:cNvPr id="52" name="Text 45"/>
          <p:cNvSpPr/>
          <p:nvPr/>
        </p:nvSpPr>
        <p:spPr>
          <a:xfrm>
            <a:off x="8540496" y="3630168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−0.08σ (55)</a:t>
            </a:r>
            <a:endParaRPr lang="en-US" sz="900" dirty="0"/>
          </a:p>
        </p:txBody>
      </p:sp>
      <p:pic>
        <p:nvPicPr>
          <p:cNvPr id="5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5168" y="3364992"/>
            <a:ext cx="2295144" cy="1279984"/>
          </a:xfrm>
          <a:prstGeom prst="rect">
            <a:avLst/>
          </a:prstGeom>
        </p:spPr>
      </p:pic>
      <p:sp>
        <p:nvSpPr>
          <p:cNvPr id="54" name="Text 46"/>
          <p:cNvSpPr/>
          <p:nvPr/>
        </p:nvSpPr>
        <p:spPr>
          <a:xfrm>
            <a:off x="548640" y="4846320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SPA_M12（V）・固定值 20</a:t>
            </a:r>
            <a:endParaRPr lang="en-US" sz="1050" dirty="0"/>
          </a:p>
        </p:txBody>
      </p:sp>
      <p:sp>
        <p:nvSpPr>
          <p:cNvPr id="55" name="Shape 47"/>
          <p:cNvSpPr/>
          <p:nvPr/>
        </p:nvSpPr>
        <p:spPr>
          <a:xfrm>
            <a:off x="548640" y="5120640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6" name="Text 48"/>
          <p:cNvSpPr/>
          <p:nvPr/>
        </p:nvSpPr>
        <p:spPr>
          <a:xfrm>
            <a:off x="585216" y="5120640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900" dirty="0"/>
          </a:p>
        </p:txBody>
      </p:sp>
      <p:sp>
        <p:nvSpPr>
          <p:cNvPr id="57" name="Text 49"/>
          <p:cNvSpPr/>
          <p:nvPr/>
        </p:nvSpPr>
        <p:spPr>
          <a:xfrm>
            <a:off x="1024128" y="512064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(732)</a:t>
            </a:r>
            <a:endParaRPr lang="en-US" sz="900" dirty="0"/>
          </a:p>
        </p:txBody>
      </p:sp>
      <p:sp>
        <p:nvSpPr>
          <p:cNvPr id="58" name="Shape 50"/>
          <p:cNvSpPr/>
          <p:nvPr/>
        </p:nvSpPr>
        <p:spPr>
          <a:xfrm>
            <a:off x="548640" y="5367528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9" name="Text 51"/>
          <p:cNvSpPr/>
          <p:nvPr/>
        </p:nvSpPr>
        <p:spPr>
          <a:xfrm>
            <a:off x="585216" y="536752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900" dirty="0"/>
          </a:p>
        </p:txBody>
      </p:sp>
      <p:sp>
        <p:nvSpPr>
          <p:cNvPr id="60" name="Text 52"/>
          <p:cNvSpPr/>
          <p:nvPr/>
        </p:nvSpPr>
        <p:spPr>
          <a:xfrm>
            <a:off x="1024128" y="5367528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−0.8%pt (55)</a:t>
            </a:r>
            <a:endParaRPr lang="en-US" sz="900" dirty="0"/>
          </a:p>
        </p:txBody>
      </p:sp>
      <p:pic>
        <p:nvPicPr>
          <p:cNvPr id="6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0" y="5102352"/>
            <a:ext cx="2295144" cy="1279984"/>
          </a:xfrm>
          <a:prstGeom prst="rect">
            <a:avLst/>
          </a:prstGeom>
        </p:spPr>
      </p:pic>
      <p:sp>
        <p:nvSpPr>
          <p:cNvPr id="62" name="Text 53"/>
          <p:cNvSpPr/>
          <p:nvPr/>
        </p:nvSpPr>
        <p:spPr>
          <a:xfrm>
            <a:off x="4306824" y="4846320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SPA_M13（V）・固定值 20</a:t>
            </a:r>
            <a:endParaRPr lang="en-US" sz="1050" dirty="0"/>
          </a:p>
        </p:txBody>
      </p:sp>
      <p:sp>
        <p:nvSpPr>
          <p:cNvPr id="63" name="Shape 54"/>
          <p:cNvSpPr/>
          <p:nvPr/>
        </p:nvSpPr>
        <p:spPr>
          <a:xfrm>
            <a:off x="4306824" y="5120640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64" name="Text 55"/>
          <p:cNvSpPr/>
          <p:nvPr/>
        </p:nvSpPr>
        <p:spPr>
          <a:xfrm>
            <a:off x="4343400" y="5120640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900" dirty="0"/>
          </a:p>
        </p:txBody>
      </p:sp>
      <p:sp>
        <p:nvSpPr>
          <p:cNvPr id="65" name="Text 56"/>
          <p:cNvSpPr/>
          <p:nvPr/>
        </p:nvSpPr>
        <p:spPr>
          <a:xfrm>
            <a:off x="4782312" y="512064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(732)</a:t>
            </a:r>
            <a:endParaRPr lang="en-US" sz="900" dirty="0"/>
          </a:p>
        </p:txBody>
      </p:sp>
      <p:sp>
        <p:nvSpPr>
          <p:cNvPr id="66" name="Shape 57"/>
          <p:cNvSpPr/>
          <p:nvPr/>
        </p:nvSpPr>
        <p:spPr>
          <a:xfrm>
            <a:off x="4306824" y="5367528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67" name="Text 58"/>
          <p:cNvSpPr/>
          <p:nvPr/>
        </p:nvSpPr>
        <p:spPr>
          <a:xfrm>
            <a:off x="4343400" y="536752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900" dirty="0"/>
          </a:p>
        </p:txBody>
      </p:sp>
      <p:sp>
        <p:nvSpPr>
          <p:cNvPr id="68" name="Text 59"/>
          <p:cNvSpPr/>
          <p:nvPr/>
        </p:nvSpPr>
        <p:spPr>
          <a:xfrm>
            <a:off x="4782312" y="5367528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pic>
        <p:nvPicPr>
          <p:cNvPr id="6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86984" y="5102352"/>
            <a:ext cx="2295144" cy="12799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 總覽 trend ｜ TMRX12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TMRX12：FAB15（47pcs） vs FAB18（653pcs）：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 2（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SPA_M12 +16.2%pt、SPA_M13 +8.0%pt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）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、黃 1（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LK_M12 ×2.96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）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；其餘 within 門檻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4543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LK_M12（A）・log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14173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645920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15568" y="1645920"/>
            <a:ext cx="813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(653)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1892808"/>
            <a:ext cx="14173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1892808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15568" y="1892808"/>
            <a:ext cx="813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×2.96 (47)</a:t>
            </a:r>
            <a:endParaRPr lang="en-US" sz="10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1627632"/>
            <a:ext cx="3929307" cy="21488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185916" y="1371600"/>
            <a:ext cx="54543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SPA_M12（V）・固定值 20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85916" y="1645920"/>
            <a:ext cx="14173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22492" y="1645920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752844" y="1645920"/>
            <a:ext cx="813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(653)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185916" y="1892808"/>
            <a:ext cx="14173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22492" y="1892808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752844" y="1892808"/>
            <a:ext cx="813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+16.2%pt (47)</a:t>
            </a:r>
            <a:endParaRPr lang="en-US" sz="10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4676" y="1627632"/>
            <a:ext cx="3929307" cy="214884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48640" y="3977640"/>
            <a:ext cx="54543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SPA_M13（V）・固定值 20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548640" y="4251960"/>
            <a:ext cx="14173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85216" y="4251960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1115568" y="4251960"/>
            <a:ext cx="813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(653)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548640" y="4498848"/>
            <a:ext cx="14173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85216" y="4498848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1115568" y="4498848"/>
            <a:ext cx="813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+8.0%pt (47)</a:t>
            </a:r>
            <a:endParaRPr lang="en-US" sz="100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4233672"/>
            <a:ext cx="3929307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 總覽 trend（附錄：綠燈 item） ｜ TMRX12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TMRX12：FAB15（47pcs） vs FAB18（653pcs）：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綠燈 item 5 個，全部 within 門檻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Con_M12（OHM/SQ）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645920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24128" y="164592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(653)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892808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189280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24128" y="1892808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−0.88σ (47)</a:t>
            </a:r>
            <a:endParaRPr lang="en-US" sz="9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627632"/>
            <a:ext cx="2295144" cy="127998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306824" y="1371600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Con_M13（OHM/SQ）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306824" y="1645920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43400" y="1645920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782312" y="164592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(653)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306824" y="1892808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343400" y="189280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782312" y="1892808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−0.35σ (47)</a:t>
            </a:r>
            <a:endParaRPr lang="en-US" sz="9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6984" y="1627632"/>
            <a:ext cx="2295144" cy="127998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065008" y="1371600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LK_M13（A）・log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8065008" y="1645920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101584" y="1645920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8540496" y="164592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(653)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8065008" y="1892808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101584" y="189280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8540496" y="1892808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×1.36 (47)</a:t>
            </a:r>
            <a:endParaRPr lang="en-US" sz="90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5168" y="1627632"/>
            <a:ext cx="2295144" cy="1279984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48640" y="3108960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Rc_V11（OHM）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548640" y="3383280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585216" y="3383280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1024128" y="338328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(653)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548640" y="3630168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585216" y="363016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1024128" y="3630168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+0.29σ (47)</a:t>
            </a:r>
            <a:endParaRPr lang="en-US" sz="900" dirty="0"/>
          </a:p>
        </p:txBody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364992"/>
            <a:ext cx="2295144" cy="1279984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4306824" y="3108960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Rc_V12（OHM）</a:t>
            </a:r>
            <a:endParaRPr lang="en-US" sz="1050" dirty="0"/>
          </a:p>
        </p:txBody>
      </p:sp>
      <p:sp>
        <p:nvSpPr>
          <p:cNvPr id="39" name="Shape 33"/>
          <p:cNvSpPr/>
          <p:nvPr/>
        </p:nvSpPr>
        <p:spPr>
          <a:xfrm>
            <a:off x="4306824" y="3383280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4343400" y="3383280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4782312" y="338328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(653)</a:t>
            </a:r>
            <a:endParaRPr lang="en-US" sz="900" dirty="0"/>
          </a:p>
        </p:txBody>
      </p:sp>
      <p:sp>
        <p:nvSpPr>
          <p:cNvPr id="42" name="Shape 36"/>
          <p:cNvSpPr/>
          <p:nvPr/>
        </p:nvSpPr>
        <p:spPr>
          <a:xfrm>
            <a:off x="4306824" y="3630168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4343400" y="363016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900" dirty="0"/>
          </a:p>
        </p:txBody>
      </p:sp>
      <p:sp>
        <p:nvSpPr>
          <p:cNvPr id="44" name="Text 38"/>
          <p:cNvSpPr/>
          <p:nvPr/>
        </p:nvSpPr>
        <p:spPr>
          <a:xfrm>
            <a:off x="4782312" y="3630168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−0.31σ (47)</a:t>
            </a:r>
            <a:endParaRPr lang="en-US" sz="900" dirty="0"/>
          </a:p>
        </p:txBody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6984" y="3364992"/>
            <a:ext cx="2295144" cy="12799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 總覽 trend ｜ TMTQ11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TMTQ11：FAB15（80pcs） vs FAB18（836pcs）：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 1（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Rc_V12 +2.33σ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）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；其餘 within 門檻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4543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Rc_V12（OHM）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14173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645920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15568" y="1645920"/>
            <a:ext cx="813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(836)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1892808"/>
            <a:ext cx="14173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1892808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15568" y="1892808"/>
            <a:ext cx="813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+2.33σ (80)</a:t>
            </a:r>
            <a:endParaRPr lang="en-US" sz="10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1627632"/>
            <a:ext cx="3929307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 總覽 trend（附錄：綠燈 item） ｜ TMTQ11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TMTQ11：FAB15（80pcs） vs FAB18（836pcs）：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綠燈 item 7 個，全部 within 門檻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Con_M12（OHM/SQ）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645920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24128" y="164592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(836)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892808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189280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24128" y="1892808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−0.29σ (80)</a:t>
            </a:r>
            <a:endParaRPr lang="en-US" sz="9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627632"/>
            <a:ext cx="2295144" cy="127998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306824" y="1371600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Con_M13（OHM/SQ）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306824" y="1645920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43400" y="1645920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782312" y="164592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(836)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306824" y="1892808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343400" y="189280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782312" y="1892808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+0.13σ (80)</a:t>
            </a:r>
            <a:endParaRPr lang="en-US" sz="9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6984" y="1627632"/>
            <a:ext cx="2295144" cy="127998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065008" y="1371600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LK_M12（A）・log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8065008" y="1645920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101584" y="1645920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8540496" y="164592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(836)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8065008" y="1892808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101584" y="189280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8540496" y="1892808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×0.92 (80)</a:t>
            </a:r>
            <a:endParaRPr lang="en-US" sz="90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5168" y="1627632"/>
            <a:ext cx="2295144" cy="1279984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48640" y="3108960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LK_M13（A）・log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548640" y="3383280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585216" y="3383280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1024128" y="338328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(836)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548640" y="3630168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585216" y="363016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1024128" y="3630168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×1.20 (80)</a:t>
            </a:r>
            <a:endParaRPr lang="en-US" sz="900" dirty="0"/>
          </a:p>
        </p:txBody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364992"/>
            <a:ext cx="2295144" cy="1279984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4306824" y="3108960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Rc_V11（OHM）</a:t>
            </a:r>
            <a:endParaRPr lang="en-US" sz="1050" dirty="0"/>
          </a:p>
        </p:txBody>
      </p:sp>
      <p:sp>
        <p:nvSpPr>
          <p:cNvPr id="39" name="Shape 33"/>
          <p:cNvSpPr/>
          <p:nvPr/>
        </p:nvSpPr>
        <p:spPr>
          <a:xfrm>
            <a:off x="4306824" y="3383280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4343400" y="3383280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4782312" y="338328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(836)</a:t>
            </a:r>
            <a:endParaRPr lang="en-US" sz="900" dirty="0"/>
          </a:p>
        </p:txBody>
      </p:sp>
      <p:sp>
        <p:nvSpPr>
          <p:cNvPr id="42" name="Shape 36"/>
          <p:cNvSpPr/>
          <p:nvPr/>
        </p:nvSpPr>
        <p:spPr>
          <a:xfrm>
            <a:off x="4306824" y="3630168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4343400" y="363016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900" dirty="0"/>
          </a:p>
        </p:txBody>
      </p:sp>
      <p:sp>
        <p:nvSpPr>
          <p:cNvPr id="44" name="Text 38"/>
          <p:cNvSpPr/>
          <p:nvPr/>
        </p:nvSpPr>
        <p:spPr>
          <a:xfrm>
            <a:off x="4782312" y="3630168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+0.26σ (80)</a:t>
            </a:r>
            <a:endParaRPr lang="en-US" sz="900" dirty="0"/>
          </a:p>
        </p:txBody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6984" y="3364992"/>
            <a:ext cx="2295144" cy="1279984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8065008" y="3108960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SPA_M12（V）・固定值 20</a:t>
            </a:r>
            <a:endParaRPr lang="en-US" sz="1050" dirty="0"/>
          </a:p>
        </p:txBody>
      </p:sp>
      <p:sp>
        <p:nvSpPr>
          <p:cNvPr id="47" name="Shape 40"/>
          <p:cNvSpPr/>
          <p:nvPr/>
        </p:nvSpPr>
        <p:spPr>
          <a:xfrm>
            <a:off x="8065008" y="3383280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8101584" y="3383280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900" dirty="0"/>
          </a:p>
        </p:txBody>
      </p:sp>
      <p:sp>
        <p:nvSpPr>
          <p:cNvPr id="49" name="Text 42"/>
          <p:cNvSpPr/>
          <p:nvPr/>
        </p:nvSpPr>
        <p:spPr>
          <a:xfrm>
            <a:off x="8540496" y="338328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(836)</a:t>
            </a:r>
            <a:endParaRPr lang="en-US" sz="900" dirty="0"/>
          </a:p>
        </p:txBody>
      </p:sp>
      <p:sp>
        <p:nvSpPr>
          <p:cNvPr id="50" name="Shape 43"/>
          <p:cNvSpPr/>
          <p:nvPr/>
        </p:nvSpPr>
        <p:spPr>
          <a:xfrm>
            <a:off x="8065008" y="3630168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8101584" y="363016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900" dirty="0"/>
          </a:p>
        </p:txBody>
      </p:sp>
      <p:sp>
        <p:nvSpPr>
          <p:cNvPr id="52" name="Text 45"/>
          <p:cNvSpPr/>
          <p:nvPr/>
        </p:nvSpPr>
        <p:spPr>
          <a:xfrm>
            <a:off x="8540496" y="3630168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−1.7%pt (80)</a:t>
            </a:r>
            <a:endParaRPr lang="en-US" sz="900" dirty="0"/>
          </a:p>
        </p:txBody>
      </p:sp>
      <p:pic>
        <p:nvPicPr>
          <p:cNvPr id="5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5168" y="3364992"/>
            <a:ext cx="2295144" cy="1279984"/>
          </a:xfrm>
          <a:prstGeom prst="rect">
            <a:avLst/>
          </a:prstGeom>
        </p:spPr>
      </p:pic>
      <p:sp>
        <p:nvSpPr>
          <p:cNvPr id="54" name="Text 46"/>
          <p:cNvSpPr/>
          <p:nvPr/>
        </p:nvSpPr>
        <p:spPr>
          <a:xfrm>
            <a:off x="548640" y="4846320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SPA_M13（V）・固定值 20</a:t>
            </a:r>
            <a:endParaRPr lang="en-US" sz="1050" dirty="0"/>
          </a:p>
        </p:txBody>
      </p:sp>
      <p:sp>
        <p:nvSpPr>
          <p:cNvPr id="55" name="Shape 47"/>
          <p:cNvSpPr/>
          <p:nvPr/>
        </p:nvSpPr>
        <p:spPr>
          <a:xfrm>
            <a:off x="548640" y="5120640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6" name="Text 48"/>
          <p:cNvSpPr/>
          <p:nvPr/>
        </p:nvSpPr>
        <p:spPr>
          <a:xfrm>
            <a:off x="585216" y="5120640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900" dirty="0"/>
          </a:p>
        </p:txBody>
      </p:sp>
      <p:sp>
        <p:nvSpPr>
          <p:cNvPr id="57" name="Text 49"/>
          <p:cNvSpPr/>
          <p:nvPr/>
        </p:nvSpPr>
        <p:spPr>
          <a:xfrm>
            <a:off x="1024128" y="512064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(836)</a:t>
            </a:r>
            <a:endParaRPr lang="en-US" sz="900" dirty="0"/>
          </a:p>
        </p:txBody>
      </p:sp>
      <p:sp>
        <p:nvSpPr>
          <p:cNvPr id="58" name="Shape 50"/>
          <p:cNvSpPr/>
          <p:nvPr/>
        </p:nvSpPr>
        <p:spPr>
          <a:xfrm>
            <a:off x="548640" y="5367528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9" name="Text 51"/>
          <p:cNvSpPr/>
          <p:nvPr/>
        </p:nvSpPr>
        <p:spPr>
          <a:xfrm>
            <a:off x="585216" y="536752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900" dirty="0"/>
          </a:p>
        </p:txBody>
      </p:sp>
      <p:sp>
        <p:nvSpPr>
          <p:cNvPr id="60" name="Text 52"/>
          <p:cNvSpPr/>
          <p:nvPr/>
        </p:nvSpPr>
        <p:spPr>
          <a:xfrm>
            <a:off x="1024128" y="5367528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−0.8%pt (80)</a:t>
            </a:r>
            <a:endParaRPr lang="en-US" sz="900" dirty="0"/>
          </a:p>
        </p:txBody>
      </p:sp>
      <p:pic>
        <p:nvPicPr>
          <p:cNvPr id="6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0" y="5102352"/>
            <a:ext cx="2295144" cy="127998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 總覽 trend ｜ TMWF54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TMWF54：FAB15（215pcs） vs FAB18（953pcs）：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黃 2（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Con_M13 +1.38σ、SPA_M13 +2.9%pt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）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；其餘 within 門檻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4543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Con_M13（OHM/SQ）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14173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645920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15568" y="1645920"/>
            <a:ext cx="813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(953)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1892808"/>
            <a:ext cx="14173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1892808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15568" y="1892808"/>
            <a:ext cx="813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+1.38σ (215)</a:t>
            </a:r>
            <a:endParaRPr lang="en-US" sz="10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1627632"/>
            <a:ext cx="3929307" cy="21488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185916" y="1371600"/>
            <a:ext cx="54543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SPA_M13（V）・固定值 20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85916" y="1645920"/>
            <a:ext cx="14173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22492" y="1645920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752844" y="1645920"/>
            <a:ext cx="813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(953)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185916" y="1892808"/>
            <a:ext cx="14173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22492" y="1892808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752844" y="1892808"/>
            <a:ext cx="813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+2.9%pt (215)</a:t>
            </a:r>
            <a:endParaRPr lang="en-US" sz="10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4676" y="1627632"/>
            <a:ext cx="3929307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 總覽 trend（附錄：綠燈 item） ｜ TMWF54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TMWF54：FAB15（215pcs） vs FAB18（953pcs）：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綠燈 item 6 個，全部 within 門檻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Con_M12（OHM/SQ）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645920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24128" y="164592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(953)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892808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189280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24128" y="1892808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+0.22σ (215)</a:t>
            </a:r>
            <a:endParaRPr lang="en-US" sz="9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627632"/>
            <a:ext cx="2295144" cy="127998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306824" y="1371600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LK_M12（A）・log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306824" y="1645920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43400" y="1645920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782312" y="164592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(953)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306824" y="1892808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343400" y="189280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782312" y="1892808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×0.99 (215)</a:t>
            </a:r>
            <a:endParaRPr lang="en-US" sz="9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6984" y="1627632"/>
            <a:ext cx="2295144" cy="127998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065008" y="1371600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LK_M13（A）・log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8065008" y="1645920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101584" y="1645920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8540496" y="164592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(953)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8065008" y="1892808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101584" y="189280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8540496" y="1892808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×1.12 (215)</a:t>
            </a:r>
            <a:endParaRPr lang="en-US" sz="90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5168" y="1627632"/>
            <a:ext cx="2295144" cy="1279984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48640" y="3108960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Rc_V11（OHM）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548640" y="3383280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585216" y="3383280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1024128" y="338328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(953)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548640" y="3630168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585216" y="363016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1024128" y="3630168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−0.10σ (215)</a:t>
            </a:r>
            <a:endParaRPr lang="en-US" sz="900" dirty="0"/>
          </a:p>
        </p:txBody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364992"/>
            <a:ext cx="2295144" cy="1279984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4306824" y="3108960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Rc_V12（OHM）</a:t>
            </a:r>
            <a:endParaRPr lang="en-US" sz="1050" dirty="0"/>
          </a:p>
        </p:txBody>
      </p:sp>
      <p:sp>
        <p:nvSpPr>
          <p:cNvPr id="39" name="Shape 33"/>
          <p:cNvSpPr/>
          <p:nvPr/>
        </p:nvSpPr>
        <p:spPr>
          <a:xfrm>
            <a:off x="4306824" y="3383280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4343400" y="3383280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4782312" y="338328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(953)</a:t>
            </a:r>
            <a:endParaRPr lang="en-US" sz="900" dirty="0"/>
          </a:p>
        </p:txBody>
      </p:sp>
      <p:sp>
        <p:nvSpPr>
          <p:cNvPr id="42" name="Shape 36"/>
          <p:cNvSpPr/>
          <p:nvPr/>
        </p:nvSpPr>
        <p:spPr>
          <a:xfrm>
            <a:off x="4306824" y="3630168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4343400" y="363016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900" dirty="0"/>
          </a:p>
        </p:txBody>
      </p:sp>
      <p:sp>
        <p:nvSpPr>
          <p:cNvPr id="44" name="Text 38"/>
          <p:cNvSpPr/>
          <p:nvPr/>
        </p:nvSpPr>
        <p:spPr>
          <a:xfrm>
            <a:off x="4782312" y="3630168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−0.09σ (215)</a:t>
            </a:r>
            <a:endParaRPr lang="en-US" sz="900" dirty="0"/>
          </a:p>
        </p:txBody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6984" y="3364992"/>
            <a:ext cx="2295144" cy="1279984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8065008" y="3108960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SPA_M12（V）・固定值 20</a:t>
            </a:r>
            <a:endParaRPr lang="en-US" sz="1050" dirty="0"/>
          </a:p>
        </p:txBody>
      </p:sp>
      <p:sp>
        <p:nvSpPr>
          <p:cNvPr id="47" name="Shape 40"/>
          <p:cNvSpPr/>
          <p:nvPr/>
        </p:nvSpPr>
        <p:spPr>
          <a:xfrm>
            <a:off x="8065008" y="3383280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8101584" y="3383280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900" dirty="0"/>
          </a:p>
        </p:txBody>
      </p:sp>
      <p:sp>
        <p:nvSpPr>
          <p:cNvPr id="49" name="Text 42"/>
          <p:cNvSpPr/>
          <p:nvPr/>
        </p:nvSpPr>
        <p:spPr>
          <a:xfrm>
            <a:off x="8540496" y="338328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(953)</a:t>
            </a:r>
            <a:endParaRPr lang="en-US" sz="900" dirty="0"/>
          </a:p>
        </p:txBody>
      </p:sp>
      <p:sp>
        <p:nvSpPr>
          <p:cNvPr id="50" name="Shape 43"/>
          <p:cNvSpPr/>
          <p:nvPr/>
        </p:nvSpPr>
        <p:spPr>
          <a:xfrm>
            <a:off x="8065008" y="3630168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8101584" y="363016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900" dirty="0"/>
          </a:p>
        </p:txBody>
      </p:sp>
      <p:sp>
        <p:nvSpPr>
          <p:cNvPr id="52" name="Text 45"/>
          <p:cNvSpPr/>
          <p:nvPr/>
        </p:nvSpPr>
        <p:spPr>
          <a:xfrm>
            <a:off x="8540496" y="3630168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−0.3%pt (215)</a:t>
            </a:r>
            <a:endParaRPr lang="en-US" sz="900" dirty="0"/>
          </a:p>
        </p:txBody>
      </p:sp>
      <p:pic>
        <p:nvPicPr>
          <p:cNvPr id="5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5168" y="3364992"/>
            <a:ext cx="2295144" cy="127998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Inline 點燈表（均值 K-shift）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FAB15（397pcs） vs FAB18（3174pcs）：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 3、黃 0、綠 21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數字 = K-shift（σ）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08276" y="1371600"/>
          <a:ext cx="77724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463040"/>
                <a:gridCol w="1463040"/>
                <a:gridCol w="1463040"/>
                <a:gridCol w="146304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Inline item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Part6 →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TMRF89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TMRX12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TMTQ11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TMWF54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BF"/>
                    </a:solidFill>
                  </a:tcPr>
                </a:tc>
              </a:tr>
              <a:tr h="310896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CD（inline）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M12 CD AEI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+0.51σ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+2.18σ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−0.10σ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+0.07σ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M13 CD AEI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−0.86σ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+0.66σ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+0.39σ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+0.20σ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Via CD（inline）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V11 CD AEI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+0.19σ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−0.28σ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−0.29σ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−0.04σ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V12 CD AEI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+0.02σ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+0.38σ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−2.79σ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+0.15σ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THK（inline）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M12 THK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+0.46σ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+0.22σ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+0.26σ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−0.21σ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M13 THK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−0.22σ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+0.26σ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−0.25σ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−1.63σ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Inline 變異比較（W2W／WIW σ 倍數）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FAB15（397pcs） vs FAB18（3174pcs）：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 3、黃 0、綠 21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σ 倍數 = CIP ÷ BSL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08276" y="1371600"/>
          <a:ext cx="77724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463040"/>
                <a:gridCol w="1463040"/>
                <a:gridCol w="1463040"/>
                <a:gridCol w="146304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Inline item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Part6 →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TMRF89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TMRX12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TMTQ11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TMWF54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BF"/>
                    </a:solidFill>
                  </a:tcPr>
                </a:tc>
              </a:tr>
              <a:tr h="310896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CD（inline）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M12 CD AEI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W2W ×0.79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W2W ×1.00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W2W ×0.78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86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W2W ×1.42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M13 CD AEI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W2W ×0.65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W2W ×1.01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W2W ×0.67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W2W ×0.92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Via CD（inline）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V11 CD AEI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W2W ×0.78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W2W ×1.02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W2W ×0.92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W2W ×0.97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V12 CD AEI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W2W ×0.59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W2W ×0.95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86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W2W ×1.46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W2W ×1.00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THK（inline）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M12 THK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W2W ×0.49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W2W ×0.79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W2W ×0.76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W2W ×0.92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M13 THK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W2W ×0.67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W2W ×0.99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W2W ×0.57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W2W ×0.72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Inline HL 總表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個 HL：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 3、黃 1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✔ 有對上　○ 缺資料　△ 關聯弱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2103120"/>
                <a:gridCol w="1737360"/>
                <a:gridCol w="4370832"/>
                <a:gridCol w="237744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燈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B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Inline item @ 組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B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偏移（pcs）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B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對上什麼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B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先查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B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橘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V12 CD AEI @ TMTQ11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FAB15 −2.79σ，W2W σ ×1.46 (45)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同層 Rc_V12 +2.33σ；機台／chamber 疑似 V12_ETCH_CH = CH_B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橘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M12 CD AEI @ TMRX12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FAB15 +2.18σ (28)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同層 Con_M12 −0.88σ；同層 LK_M12 ×2.96；同層 SPA_M12 +16.2%pt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橘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M13 THK @ TMWF54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FAB15 −1.63σ (136)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同層 Con_M13 +1.38σ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86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黃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M12 CD AEI @ TMWF54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886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FAB15 W2W σ ×1.42 (136)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未對上 inline／機台／yield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V12 CD AEI @ TMTQ11：FAB15 −2.79σ，W2W σ ×1.46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V12 CD AEI @ TMTQ11：FAB15 −2.79σ，W2W σ ×1.46（45pcs） vs FAB18 BSL（498pcs），mean 43.03 vs BSL 45.91</a:t>
            </a:r>
            <a:pPr indent="0" marL="0">
              <a:spcAft>
                <a:spcPts val="400"/>
              </a:spcAft>
              <a:buNone/>
            </a:pP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同層 Rc_V12 +2.33σ；機台／chamber 疑似 V12_ETCH_CH = CH_B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55648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F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691640"/>
            <a:ext cx="5637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V12 CD AEI trend ｜ TMTQ11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46304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2103120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33856" y="2103120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(498)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350008"/>
            <a:ext cx="146304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2350008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33856" y="2350008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−2.79σ (45)</a:t>
            </a:r>
            <a:endParaRPr lang="en-US" sz="10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2011680"/>
            <a:ext cx="4320540" cy="192024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48640" y="4224528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FB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6384" y="4160520"/>
            <a:ext cx="5637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Rc_V12 vs V12 CD AEI ｜ 有關聯，預期負相關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4572000"/>
            <a:ext cx="146304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5216" y="4572000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33856" y="4572000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48640" y="4818888"/>
            <a:ext cx="146304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5216" y="4818888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33856" y="4818888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有關聯</a:t>
            </a:r>
            <a:endParaRPr lang="en-US" sz="10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4480560"/>
            <a:ext cx="4320540" cy="1920240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6789420" y="1755648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FB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027164" y="1691640"/>
            <a:ext cx="46131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建議檢查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6789420" y="2057400"/>
            <a:ext cx="485089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✔  同層 Rc_V12　+2.33σ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✔  機台／chamber　疑似 V12_ETCH_CH = CH_B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6789420" y="4361688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FB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027164" y="4297680"/>
            <a:ext cx="46131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同組其他 item ｜ FAB15 vs FAB18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89420" y="4663440"/>
          <a:ext cx="4850892" cy="914400"/>
        </p:xfrm>
        <a:graphic>
          <a:graphicData uri="http://schemas.openxmlformats.org/drawingml/2006/table">
            <a:tbl>
              <a:tblPr/>
              <a:tblGrid>
                <a:gridCol w="2910535"/>
                <a:gridCol w="1940357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item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FAB15 vs FAB18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M13 CD AEI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+0.39σ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V11 CD AEI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−0.29σ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M12 THK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+0.26σ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M13 THK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−0.25σ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M12 CD AEI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−0.10σ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M12 CD AEI @ TMRX12：FAB15 +2.18σ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M12 CD AEI @ TMRX12：FAB15 +2.18σ（28pcs） vs FAB18 BSL（386pcs），mean 50.32 vs BSL 48.01</a:t>
            </a:r>
            <a:pPr indent="0" marL="0">
              <a:spcAft>
                <a:spcPts val="400"/>
              </a:spcAft>
              <a:buNone/>
            </a:pP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同層 Con_M12 −0.88σ；同層 LK_M12 ×2.96；同層 SPA_M12 +16.2%pt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55648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F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691640"/>
            <a:ext cx="5637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M12 CD AEI trend ｜ TMRX12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46304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2103120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33856" y="2103120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(386)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350008"/>
            <a:ext cx="146304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2350008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33856" y="2350008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+2.18σ (28)</a:t>
            </a:r>
            <a:endParaRPr lang="en-US" sz="10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2011680"/>
            <a:ext cx="4320540" cy="192024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48640" y="4224528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FB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6384" y="4160520"/>
            <a:ext cx="5637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Con_M12 vs M12 CD AEI ｜ 弱關聯，預期負相關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4572000"/>
            <a:ext cx="146304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5216" y="4572000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33856" y="4572000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48640" y="4818888"/>
            <a:ext cx="146304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5216" y="4818888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33856" y="4818888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4480560"/>
            <a:ext cx="4320540" cy="1920240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6789420" y="1755648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FB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027164" y="1691640"/>
            <a:ext cx="46131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建議檢查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6789420" y="2057400"/>
            <a:ext cx="485089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✔  同層 Con_M12　−0.88σ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✔  同層 LK_M12　×2.96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✔  同層 SPA_M12　+16.2%pt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✘  機台／chamber　已掃 3 個欄位，沒有明顯 bad tool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6789420" y="4361688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FB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027164" y="4297680"/>
            <a:ext cx="46131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同組其他 item ｜ FAB15 vs FAB18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89420" y="4663440"/>
          <a:ext cx="4850892" cy="914400"/>
        </p:xfrm>
        <a:graphic>
          <a:graphicData uri="http://schemas.openxmlformats.org/drawingml/2006/table">
            <a:tbl>
              <a:tblPr/>
              <a:tblGrid>
                <a:gridCol w="2910535"/>
                <a:gridCol w="1940357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item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FAB15 vs FAB18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M13 CD AEI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+0.66σ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V12 CD AEI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+0.38σ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V11 CD AEI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−0.28σ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M13 THK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+0.26σ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M12 THK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+0.22σ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M13 THK @ TMWF54：FAB15 −1.63σ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M13 THK @ TMWF54：FAB15 −1.63σ（136pcs） vs FAB18 BSL（598pcs），mean 1443 vs BSL 1502</a:t>
            </a:r>
            <a:pPr indent="0" marL="0">
              <a:spcAft>
                <a:spcPts val="400"/>
              </a:spcAft>
              <a:buNone/>
            </a:pP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同層 Con_M13 +1.38σ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55648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F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691640"/>
            <a:ext cx="5637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M13 THK trend ｜ TMWF54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46304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2103120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33856" y="2103120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(598)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350008"/>
            <a:ext cx="146304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2350008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33856" y="2350008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−1.63σ (136)</a:t>
            </a:r>
            <a:endParaRPr lang="en-US" sz="10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2011680"/>
            <a:ext cx="4320540" cy="192024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48640" y="4224528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FB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6384" y="4160520"/>
            <a:ext cx="5637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Con_M13 vs M13 THK ｜ 有關聯，預期負相關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4572000"/>
            <a:ext cx="146304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5216" y="4572000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33856" y="4572000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48640" y="4818888"/>
            <a:ext cx="146304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5216" y="4818888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33856" y="4818888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有關聯</a:t>
            </a:r>
            <a:endParaRPr lang="en-US" sz="10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4480560"/>
            <a:ext cx="4320540" cy="1920240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6789420" y="1755648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FB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027164" y="1691640"/>
            <a:ext cx="46131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建議檢查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6789420" y="2057400"/>
            <a:ext cx="485089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✔  同層 Con_M13　+1.38σ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✘  機台／chamber　已掃 3 個欄位，沒有明顯 bad tool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6789420" y="4361688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FB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027164" y="4297680"/>
            <a:ext cx="46131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同組其他 item ｜ FAB15 vs FAB18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89420" y="4663440"/>
          <a:ext cx="4850892" cy="914400"/>
        </p:xfrm>
        <a:graphic>
          <a:graphicData uri="http://schemas.openxmlformats.org/drawingml/2006/table">
            <a:tbl>
              <a:tblPr/>
              <a:tblGrid>
                <a:gridCol w="2910535"/>
                <a:gridCol w="1940357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item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FAB15 vs FAB18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M12 THK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−0.21σ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M13 CD AEI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+0.20σ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V12 CD AEI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+0.15σ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M12 CD AEI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+0.07σ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V11 CD AEI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−0.04σ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M12 CD AEI @ TMWF54：FAB15 W2W σ ×1.42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M12 CD AEI @ TMWF54：FAB15 W2W σ ×1.42（136pcs） vs FAB18 BSL（598pcs），mean 48.1 vs BSL 48.03</a:t>
            </a:r>
            <a:pPr indent="0" marL="0">
              <a:spcAft>
                <a:spcPts val="400"/>
              </a:spcAft>
              <a:buNone/>
            </a:pP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同層／鄰層 inline、機台、yield 皆未對上 → 先補資料再判斷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55648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F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691640"/>
            <a:ext cx="7900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M12 CD AEI trend ｜ TMWF54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46304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2103120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33856" y="2103120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(598)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350008"/>
            <a:ext cx="146304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2350008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33856" y="2350008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+0.07σ (136)</a:t>
            </a:r>
            <a:endParaRPr lang="en-US" sz="10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2011680"/>
            <a:ext cx="6583680" cy="402336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9052560" y="1755648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FB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290304" y="1691640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建議檢查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052560" y="2057400"/>
            <a:ext cx="258775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✘  M12 WAT　Con_M12 +0.22σ 未偏移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✘  機台／chamber　已掃 3 個欄位，沒有明顯 bad tool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9052560" y="4361688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FB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290304" y="4297680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同組其他 item ｜ FAB15 vs FAB18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52560" y="4663440"/>
          <a:ext cx="2587752" cy="914400"/>
        </p:xfrm>
        <a:graphic>
          <a:graphicData uri="http://schemas.openxmlformats.org/drawingml/2006/table">
            <a:tbl>
              <a:tblPr/>
              <a:tblGrid>
                <a:gridCol w="1552651"/>
                <a:gridCol w="1035101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item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FAB15 vs FAB18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M13 THK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−1.63σ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M12 THK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−0.21σ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M13 CD AEI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+0.20σ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V12 CD AEI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+0.15σ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V11 CD AEI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−0.04σ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Inline 總覽 trend（附錄：綠燈 item） ｜ TMRF89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TMRF89：FAB15（55pcs） vs FAB18（732pcs）：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綠燈 item 6 個，全部 within 門檻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M12 CD AEI（nm）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645920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24128" y="164592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(430)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892808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189280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24128" y="1892808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+0.51σ (38)</a:t>
            </a:r>
            <a:endParaRPr lang="en-US" sz="9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627632"/>
            <a:ext cx="2295144" cy="127998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306824" y="1371600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M13 CD AEI（nm）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306824" y="1645920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43400" y="1645920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782312" y="164592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(430)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306824" y="1892808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343400" y="189280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782312" y="1892808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−0.86σ (38)</a:t>
            </a:r>
            <a:endParaRPr lang="en-US" sz="9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6984" y="1627632"/>
            <a:ext cx="2295144" cy="127998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065008" y="1371600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V11 CD AEI（nm）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8065008" y="1645920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101584" y="1645920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8540496" y="164592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(430)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8065008" y="1892808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101584" y="189280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8540496" y="1892808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+0.19σ (38)</a:t>
            </a:r>
            <a:endParaRPr lang="en-US" sz="90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5168" y="1627632"/>
            <a:ext cx="2295144" cy="1279984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48640" y="3108960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V12 CD AEI（nm）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548640" y="3383280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585216" y="3383280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1024128" y="338328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(430)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548640" y="3630168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585216" y="363016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1024128" y="3630168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+0.02σ (38)</a:t>
            </a:r>
            <a:endParaRPr lang="en-US" sz="900" dirty="0"/>
          </a:p>
        </p:txBody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364992"/>
            <a:ext cx="2295144" cy="1279984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4306824" y="3108960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M12 THK（A）</a:t>
            </a:r>
            <a:endParaRPr lang="en-US" sz="1050" dirty="0"/>
          </a:p>
        </p:txBody>
      </p:sp>
      <p:sp>
        <p:nvSpPr>
          <p:cNvPr id="39" name="Shape 33"/>
          <p:cNvSpPr/>
          <p:nvPr/>
        </p:nvSpPr>
        <p:spPr>
          <a:xfrm>
            <a:off x="4306824" y="3383280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4343400" y="3383280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4782312" y="338328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(430)</a:t>
            </a:r>
            <a:endParaRPr lang="en-US" sz="900" dirty="0"/>
          </a:p>
        </p:txBody>
      </p:sp>
      <p:sp>
        <p:nvSpPr>
          <p:cNvPr id="42" name="Shape 36"/>
          <p:cNvSpPr/>
          <p:nvPr/>
        </p:nvSpPr>
        <p:spPr>
          <a:xfrm>
            <a:off x="4306824" y="3630168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4343400" y="363016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900" dirty="0"/>
          </a:p>
        </p:txBody>
      </p:sp>
      <p:sp>
        <p:nvSpPr>
          <p:cNvPr id="44" name="Text 38"/>
          <p:cNvSpPr/>
          <p:nvPr/>
        </p:nvSpPr>
        <p:spPr>
          <a:xfrm>
            <a:off x="4782312" y="3630168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+0.46σ (38)</a:t>
            </a:r>
            <a:endParaRPr lang="en-US" sz="900" dirty="0"/>
          </a:p>
        </p:txBody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6984" y="3364992"/>
            <a:ext cx="2295144" cy="1279984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8065008" y="3108960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M13 THK（A）</a:t>
            </a:r>
            <a:endParaRPr lang="en-US" sz="1050" dirty="0"/>
          </a:p>
        </p:txBody>
      </p:sp>
      <p:sp>
        <p:nvSpPr>
          <p:cNvPr id="47" name="Shape 40"/>
          <p:cNvSpPr/>
          <p:nvPr/>
        </p:nvSpPr>
        <p:spPr>
          <a:xfrm>
            <a:off x="8065008" y="3383280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8101584" y="3383280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900" dirty="0"/>
          </a:p>
        </p:txBody>
      </p:sp>
      <p:sp>
        <p:nvSpPr>
          <p:cNvPr id="49" name="Text 42"/>
          <p:cNvSpPr/>
          <p:nvPr/>
        </p:nvSpPr>
        <p:spPr>
          <a:xfrm>
            <a:off x="8540496" y="338328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(430)</a:t>
            </a:r>
            <a:endParaRPr lang="en-US" sz="900" dirty="0"/>
          </a:p>
        </p:txBody>
      </p:sp>
      <p:sp>
        <p:nvSpPr>
          <p:cNvPr id="50" name="Shape 43"/>
          <p:cNvSpPr/>
          <p:nvPr/>
        </p:nvSpPr>
        <p:spPr>
          <a:xfrm>
            <a:off x="8065008" y="3630168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8101584" y="363016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900" dirty="0"/>
          </a:p>
        </p:txBody>
      </p:sp>
      <p:sp>
        <p:nvSpPr>
          <p:cNvPr id="52" name="Text 45"/>
          <p:cNvSpPr/>
          <p:nvPr/>
        </p:nvSpPr>
        <p:spPr>
          <a:xfrm>
            <a:off x="8540496" y="3630168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−0.22σ (38)</a:t>
            </a:r>
            <a:endParaRPr lang="en-US" sz="900" dirty="0"/>
          </a:p>
        </p:txBody>
      </p:sp>
      <p:pic>
        <p:nvPicPr>
          <p:cNvPr id="5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5168" y="3364992"/>
            <a:ext cx="2295144" cy="127998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Inline 總覽 trend ｜ TMRX12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TMRX12：FAB15（47pcs） vs FAB18（653pcs）：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 1（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M12 CD AEI +2.18σ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）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；其餘 within 門檻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4543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M12 CD AEI（nm）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14173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645920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15568" y="1645920"/>
            <a:ext cx="813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(386)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1892808"/>
            <a:ext cx="14173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1892808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15568" y="1892808"/>
            <a:ext cx="813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+2.18σ (28)</a:t>
            </a:r>
            <a:endParaRPr lang="en-US" sz="10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1627632"/>
            <a:ext cx="3929307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Inline 總覽 trend（附錄：綠燈 item） ｜ TMRX12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TMRX12：FAB15（47pcs） vs FAB18（653pcs）：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綠燈 item 5 個，全部 within 門檻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M13 CD AEI（nm）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645920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24128" y="164592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(386)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892808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189280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24128" y="1892808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+0.66σ (28)</a:t>
            </a:r>
            <a:endParaRPr lang="en-US" sz="9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627632"/>
            <a:ext cx="2295144" cy="127998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306824" y="1371600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V11 CD AEI（nm）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306824" y="1645920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43400" y="1645920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782312" y="164592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(386)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306824" y="1892808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343400" y="189280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782312" y="1892808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−0.28σ (28)</a:t>
            </a:r>
            <a:endParaRPr lang="en-US" sz="9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6984" y="1627632"/>
            <a:ext cx="2295144" cy="127998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065008" y="1371600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V12 CD AEI（nm）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8065008" y="1645920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101584" y="1645920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8540496" y="164592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(386)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8065008" y="1892808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101584" y="189280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8540496" y="1892808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+0.38σ (28)</a:t>
            </a:r>
            <a:endParaRPr lang="en-US" sz="90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5168" y="1627632"/>
            <a:ext cx="2295144" cy="1279984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48640" y="3108960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M12 THK（A）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548640" y="3383280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585216" y="3383280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1024128" y="338328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(386)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548640" y="3630168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585216" y="363016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1024128" y="3630168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+0.22σ (28)</a:t>
            </a:r>
            <a:endParaRPr lang="en-US" sz="900" dirty="0"/>
          </a:p>
        </p:txBody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364992"/>
            <a:ext cx="2295144" cy="1279984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4306824" y="3108960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M13 THK（A）</a:t>
            </a:r>
            <a:endParaRPr lang="en-US" sz="1050" dirty="0"/>
          </a:p>
        </p:txBody>
      </p:sp>
      <p:sp>
        <p:nvSpPr>
          <p:cNvPr id="39" name="Shape 33"/>
          <p:cNvSpPr/>
          <p:nvPr/>
        </p:nvSpPr>
        <p:spPr>
          <a:xfrm>
            <a:off x="4306824" y="3383280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4343400" y="3383280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4782312" y="338328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(386)</a:t>
            </a:r>
            <a:endParaRPr lang="en-US" sz="900" dirty="0"/>
          </a:p>
        </p:txBody>
      </p:sp>
      <p:sp>
        <p:nvSpPr>
          <p:cNvPr id="42" name="Shape 36"/>
          <p:cNvSpPr/>
          <p:nvPr/>
        </p:nvSpPr>
        <p:spPr>
          <a:xfrm>
            <a:off x="4306824" y="3630168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4343400" y="363016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900" dirty="0"/>
          </a:p>
        </p:txBody>
      </p:sp>
      <p:sp>
        <p:nvSpPr>
          <p:cNvPr id="44" name="Text 38"/>
          <p:cNvSpPr/>
          <p:nvPr/>
        </p:nvSpPr>
        <p:spPr>
          <a:xfrm>
            <a:off x="4782312" y="3630168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+0.26σ (28)</a:t>
            </a:r>
            <a:endParaRPr lang="en-US" sz="900" dirty="0"/>
          </a:p>
        </p:txBody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6984" y="3364992"/>
            <a:ext cx="2295144" cy="127998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Inline 總覽 trend ｜ TMTQ11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TMTQ11：FAB15（80pcs） vs FAB18（836pcs）：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 1（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V12 CD AEI −2.79σ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）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；其餘 within 門檻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4543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V12 CD AEI（nm）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14173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645920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15568" y="1645920"/>
            <a:ext cx="813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(498)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1892808"/>
            <a:ext cx="14173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1892808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15568" y="1892808"/>
            <a:ext cx="813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−2.79σ (45)</a:t>
            </a:r>
            <a:endParaRPr lang="en-US" sz="10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1627632"/>
            <a:ext cx="3929307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Inline 總覽 trend（附錄：綠燈 item） ｜ TMTQ11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TMTQ11：FAB15（80pcs） vs FAB18（836pcs）：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綠燈 item 5 個，全部 within 門檻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M12 CD AEI（nm）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645920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24128" y="164592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(498)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892808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189280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24128" y="1892808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−0.10σ (45)</a:t>
            </a:r>
            <a:endParaRPr lang="en-US" sz="9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627632"/>
            <a:ext cx="2295144" cy="127998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306824" y="1371600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M13 CD AEI（nm）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306824" y="1645920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43400" y="1645920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782312" y="164592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(498)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306824" y="1892808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343400" y="189280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782312" y="1892808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+0.39σ (45)</a:t>
            </a:r>
            <a:endParaRPr lang="en-US" sz="9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6984" y="1627632"/>
            <a:ext cx="2295144" cy="127998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065008" y="1371600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V11 CD AEI（nm）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8065008" y="1645920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101584" y="1645920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8540496" y="164592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(498)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8065008" y="1892808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101584" y="189280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8540496" y="1892808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−0.29σ (45)</a:t>
            </a:r>
            <a:endParaRPr lang="en-US" sz="90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5168" y="1627632"/>
            <a:ext cx="2295144" cy="1279984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48640" y="3108960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M12 THK（A）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548640" y="3383280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585216" y="3383280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1024128" y="338328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(498)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548640" y="3630168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585216" y="363016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1024128" y="3630168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+0.26σ (45)</a:t>
            </a:r>
            <a:endParaRPr lang="en-US" sz="900" dirty="0"/>
          </a:p>
        </p:txBody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364992"/>
            <a:ext cx="2295144" cy="1279984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4306824" y="3108960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M13 THK（A）</a:t>
            </a:r>
            <a:endParaRPr lang="en-US" sz="1050" dirty="0"/>
          </a:p>
        </p:txBody>
      </p:sp>
      <p:sp>
        <p:nvSpPr>
          <p:cNvPr id="39" name="Shape 33"/>
          <p:cNvSpPr/>
          <p:nvPr/>
        </p:nvSpPr>
        <p:spPr>
          <a:xfrm>
            <a:off x="4306824" y="3383280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4343400" y="3383280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4782312" y="338328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(498)</a:t>
            </a:r>
            <a:endParaRPr lang="en-US" sz="900" dirty="0"/>
          </a:p>
        </p:txBody>
      </p:sp>
      <p:sp>
        <p:nvSpPr>
          <p:cNvPr id="42" name="Shape 36"/>
          <p:cNvSpPr/>
          <p:nvPr/>
        </p:nvSpPr>
        <p:spPr>
          <a:xfrm>
            <a:off x="4306824" y="3630168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4343400" y="363016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900" dirty="0"/>
          </a:p>
        </p:txBody>
      </p:sp>
      <p:sp>
        <p:nvSpPr>
          <p:cNvPr id="44" name="Text 38"/>
          <p:cNvSpPr/>
          <p:nvPr/>
        </p:nvSpPr>
        <p:spPr>
          <a:xfrm>
            <a:off x="4782312" y="3630168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−0.25σ (45)</a:t>
            </a:r>
            <a:endParaRPr lang="en-US" sz="900" dirty="0"/>
          </a:p>
        </p:txBody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6984" y="3364992"/>
            <a:ext cx="2295144" cy="127998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Inline 總覽 trend ｜ TMWF54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TMWF54：FAB15（215pcs） vs FAB18（953pcs）：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 1（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M13 THK −1.63σ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）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、黃 1（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M12 CD AEI +0.07σ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）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；其餘 within 門檻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4543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M12 CD AEI（nm）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14173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645920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15568" y="1645920"/>
            <a:ext cx="813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(598)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1892808"/>
            <a:ext cx="14173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1892808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15568" y="1892808"/>
            <a:ext cx="813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+0.07σ (136)</a:t>
            </a:r>
            <a:endParaRPr lang="en-US" sz="10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1627632"/>
            <a:ext cx="3929307" cy="21488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185916" y="1371600"/>
            <a:ext cx="54543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M13 THK（A）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85916" y="1645920"/>
            <a:ext cx="14173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22492" y="1645920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752844" y="1645920"/>
            <a:ext cx="813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(598)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185916" y="1892808"/>
            <a:ext cx="14173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22492" y="1892808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752844" y="1892808"/>
            <a:ext cx="813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−1.63σ (136)</a:t>
            </a:r>
            <a:endParaRPr lang="en-US" sz="10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4676" y="1627632"/>
            <a:ext cx="3929307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Inline 總覽 trend（附錄：綠燈 item） ｜ TMWF54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TMWF54：FAB15（215pcs） vs FAB18（953pcs）：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綠燈 item 4 個，全部 within 門檻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M13 CD AEI（nm）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645920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24128" y="164592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(598)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892808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189280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24128" y="1892808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+0.20σ (136)</a:t>
            </a:r>
            <a:endParaRPr lang="en-US" sz="9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627632"/>
            <a:ext cx="2295144" cy="127998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306824" y="1371600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V11 CD AEI（nm）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306824" y="1645920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43400" y="1645920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782312" y="164592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(598)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306824" y="1892808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343400" y="189280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782312" y="1892808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−0.04σ (136)</a:t>
            </a:r>
            <a:endParaRPr lang="en-US" sz="9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6984" y="1627632"/>
            <a:ext cx="2295144" cy="127998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065008" y="1371600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V12 CD AEI（nm）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8065008" y="1645920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101584" y="1645920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8540496" y="164592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(598)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8065008" y="1892808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101584" y="189280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8540496" y="1892808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+0.15σ (136)</a:t>
            </a:r>
            <a:endParaRPr lang="en-US" sz="90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5168" y="1627632"/>
            <a:ext cx="2295144" cy="1279984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48640" y="3108960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M12 THK（A）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548640" y="3383280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585216" y="3383280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1024128" y="338328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(598)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548640" y="3630168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585216" y="363016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1024128" y="3630168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−0.21σ (136)</a:t>
            </a:r>
            <a:endParaRPr lang="en-US" sz="900" dirty="0"/>
          </a:p>
        </p:txBody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364992"/>
            <a:ext cx="2295144" cy="127998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Yield 點燈表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FAB15（397pcs） vs FAB18（3174pcs）：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 1、黃 2、綠 9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數字 = K-shift（σ）</a:t>
            </a:r>
            <a:endParaRPr lang="en-US" sz="9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08276" y="1371600"/>
          <a:ext cx="77724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463040"/>
                <a:gridCol w="1463040"/>
                <a:gridCol w="1463040"/>
                <a:gridCol w="146304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Yield item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Part6 →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TMRF89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TMRX12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TMTQ11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TMWF54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BF"/>
                    </a:solidFill>
                  </a:tcPr>
                </a:tc>
              </a:tr>
              <a:tr h="310896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Yield（CP 良率）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Yield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−0.12σ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−0.44σ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86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−1.29σ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+0.01σ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CP bin（失效比例）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Bin3_short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+0.17σ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86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+1.29σ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−0.05σ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+0.08σ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Bin7_open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−0.19σ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−0.25σ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+2.25σ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−0.07σ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Yield HL 總表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個 HL：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 1、黃 2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✔ 有對上　○ 缺資料　△ 關聯弱</a:t>
            </a:r>
            <a:endParaRPr lang="en-US" sz="9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2103120"/>
                <a:gridCol w="1737360"/>
                <a:gridCol w="4370832"/>
                <a:gridCol w="237744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燈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B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Yield item @ 組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B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偏移（pcs）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B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對上什麼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B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先查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B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橘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Bin7_open @ TMTQ11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FAB15 +2.25σ (80)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WAT Rc_V12 +2.33σ；機台／chamber 疑似 V12_ETCH_CH = CH_B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86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黃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Yield @ TMTQ11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886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FAB15 −1.29σ (80)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WAT Rc_V12 +2.33σ；機台／chamber 疑似 V12_ETCH_CH = CH_B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86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黃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Bin3_short @ TMRX12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886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FAB15 +1.29σ (47)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WAT LK_M12 ×2.96；WAT SPA_M12 +16.2%pt；WAT SPA_M13 +8.0%pt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Bin7_open @ TMTQ11：FAB15 +2.25σ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Bin7_open @ TMTQ11：FAB15 +2.25σ（80pcs） vs FAB18 BSL（836pcs），mean 2.817 vs BSL 1.042</a:t>
            </a:r>
            <a:pPr indent="0" marL="0">
              <a:spcAft>
                <a:spcPts val="400"/>
              </a:spcAft>
              <a:buNone/>
            </a:pP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 Rc_V12 +2.33σ；機台／chamber 疑似 V12_ETCH_CH = CH_B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55648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F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691640"/>
            <a:ext cx="5637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Bin7_open trend ｜ TMTQ11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46304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2103120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33856" y="2103120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(836)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350008"/>
            <a:ext cx="146304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2350008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33856" y="2350008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+2.25σ (80)</a:t>
            </a:r>
            <a:endParaRPr lang="en-US" sz="10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2011680"/>
            <a:ext cx="4320540" cy="192024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48640" y="4224528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FB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6384" y="4160520"/>
            <a:ext cx="5637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Rc_V12 vs Bin7_open ｜ 有關聯，預期正相關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4572000"/>
            <a:ext cx="146304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5216" y="4572000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33856" y="4572000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48640" y="4818888"/>
            <a:ext cx="146304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5216" y="4818888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33856" y="4818888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有關聯</a:t>
            </a:r>
            <a:endParaRPr lang="en-US" sz="10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4480560"/>
            <a:ext cx="4320540" cy="1920240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6789420" y="1755648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FB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027164" y="1691640"/>
            <a:ext cx="46131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建議檢查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6789420" y="2057400"/>
            <a:ext cx="485089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✔  WAT Rc_V12　+2.33σ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✔  機台／chamber　疑似 V12_ETCH_CH = CH_B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6789420" y="4361688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FB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027164" y="4297680"/>
            <a:ext cx="46131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同組其他 item ｜ FAB15 vs FAB18</a:t>
            </a:r>
            <a:endParaRPr lang="en-US" sz="14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89420" y="4663440"/>
          <a:ext cx="4850892" cy="914400"/>
        </p:xfrm>
        <a:graphic>
          <a:graphicData uri="http://schemas.openxmlformats.org/drawingml/2006/table">
            <a:tbl>
              <a:tblPr/>
              <a:tblGrid>
                <a:gridCol w="2910535"/>
                <a:gridCol w="1940357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item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FAB15 vs FAB18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Yield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B886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−1.29σ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Bin3_short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−0.05σ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Yield @ TMTQ11：FAB15 −1.29σ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Yield @ TMTQ11：FAB15 −1.29σ（80pcs） vs FAB18 BSL（836pcs），mean 92.2 vs BSL 93.96</a:t>
            </a:r>
            <a:pPr indent="0" marL="0">
              <a:spcAft>
                <a:spcPts val="400"/>
              </a:spcAft>
              <a:buNone/>
            </a:pP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 Rc_V12 +2.33σ；機台／chamber 疑似 V12_ETCH_CH = CH_B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55648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F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691640"/>
            <a:ext cx="5637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Yield trend ｜ TMTQ11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46304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2103120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33856" y="2103120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(836)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350008"/>
            <a:ext cx="146304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2350008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33856" y="2350008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−1.29σ (80)</a:t>
            </a:r>
            <a:endParaRPr lang="en-US" sz="10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2011680"/>
            <a:ext cx="4320540" cy="192024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48640" y="4224528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FB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6384" y="4160520"/>
            <a:ext cx="5637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Rc_V12 vs Yield ｜ 有關聯，預期負相關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4572000"/>
            <a:ext cx="146304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5216" y="4572000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33856" y="4572000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48640" y="4818888"/>
            <a:ext cx="146304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5216" y="4818888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33856" y="4818888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有關聯</a:t>
            </a:r>
            <a:endParaRPr lang="en-US" sz="10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4480560"/>
            <a:ext cx="4320540" cy="1920240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6789420" y="1755648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FB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027164" y="1691640"/>
            <a:ext cx="46131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建議檢查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6789420" y="2057400"/>
            <a:ext cx="485089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✔  WAT Rc_V12　+2.33σ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✔  機台／chamber　疑似 V12_ETCH_CH = CH_B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6789420" y="4361688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FB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027164" y="4297680"/>
            <a:ext cx="46131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同組其他 item ｜ FAB15 vs FAB18</a:t>
            </a:r>
            <a:endParaRPr lang="en-US" sz="14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89420" y="4663440"/>
          <a:ext cx="4850892" cy="914400"/>
        </p:xfrm>
        <a:graphic>
          <a:graphicData uri="http://schemas.openxmlformats.org/drawingml/2006/table">
            <a:tbl>
              <a:tblPr/>
              <a:tblGrid>
                <a:gridCol w="2910535"/>
                <a:gridCol w="1940357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item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FAB15 vs FAB18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Bin7_open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+2.25σ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Bin3_short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−0.05σ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Bin3_short @ TMRX12：FAB15 +1.29σ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Bin3_short @ TMRX12：FAB15 +1.29σ（47pcs） vs FAB18 BSL（653pcs），mean 2.492 vs BSL 1.52</a:t>
            </a:r>
            <a:pPr indent="0" marL="0">
              <a:spcAft>
                <a:spcPts val="400"/>
              </a:spcAft>
              <a:buNone/>
            </a:pP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 LK_M12 ×2.96；WAT SPA_M12 +16.2%pt；WAT SPA_M13 +8.0%pt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55648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F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691640"/>
            <a:ext cx="5637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Bin3_short trend ｜ TMRX12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46304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2103120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33856" y="2103120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(653)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350008"/>
            <a:ext cx="146304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2350008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33856" y="2350008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+1.29σ (47)</a:t>
            </a:r>
            <a:endParaRPr lang="en-US" sz="10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2011680"/>
            <a:ext cx="4320540" cy="192024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48640" y="4224528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FB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6384" y="4160520"/>
            <a:ext cx="5637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LK_M12 vs Bin3_short ｜ 有關聯，預期正相關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4572000"/>
            <a:ext cx="146304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5216" y="4572000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33856" y="4572000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48640" y="4818888"/>
            <a:ext cx="146304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5216" y="4818888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33856" y="4818888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有關聯</a:t>
            </a:r>
            <a:endParaRPr lang="en-US" sz="10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4480560"/>
            <a:ext cx="4320540" cy="1920240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6789420" y="1755648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FB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027164" y="1691640"/>
            <a:ext cx="46131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建議檢查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6789420" y="2057400"/>
            <a:ext cx="485089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✔  WAT LK_M12　×2.96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✔  WAT SPA_M12　+16.2%pt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✔  WAT SPA_M13　+8.0%pt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✘  機台／chamber　已掃 3 個欄位，沒有明顯 bad tool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6789420" y="4361688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FB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027164" y="4297680"/>
            <a:ext cx="46131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同組其他 item ｜ FAB15 vs FAB18</a:t>
            </a:r>
            <a:endParaRPr lang="en-US" sz="14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89420" y="4663440"/>
          <a:ext cx="4850892" cy="914400"/>
        </p:xfrm>
        <a:graphic>
          <a:graphicData uri="http://schemas.openxmlformats.org/drawingml/2006/table">
            <a:tbl>
              <a:tblPr/>
              <a:tblGrid>
                <a:gridCol w="2910535"/>
                <a:gridCol w="1940357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item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FAB15 vs FAB18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Yield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−0.44σ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Bin7_open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−0.25σ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Yield 總覽 trend（附錄：綠燈 item） ｜ TMRF89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TMRF89：FAB15（55pcs） vs FAB18（732pcs）：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綠燈 item 3 個，全部 within 門檻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Yield（%）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645920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24128" y="164592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(732)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892808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189280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24128" y="1892808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−0.12σ (55)</a:t>
            </a:r>
            <a:endParaRPr lang="en-US" sz="9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627632"/>
            <a:ext cx="2295144" cy="127998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306824" y="1371600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Bin3_short（%）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306824" y="1645920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43400" y="1645920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782312" y="164592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(732)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306824" y="1892808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343400" y="189280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782312" y="1892808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+0.17σ (55)</a:t>
            </a:r>
            <a:endParaRPr lang="en-US" sz="9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6984" y="1627632"/>
            <a:ext cx="2295144" cy="127998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065008" y="1371600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Bin7_open（%）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8065008" y="1645920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101584" y="1645920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8540496" y="164592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(732)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8065008" y="1892808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101584" y="189280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8540496" y="1892808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−0.19σ (55)</a:t>
            </a:r>
            <a:endParaRPr lang="en-US" sz="90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5168" y="1627632"/>
            <a:ext cx="2295144" cy="127998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Yield 總覽 trend ｜ TMRX12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TMRX12：FAB15（47pcs） vs FAB18（653pcs）：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黃 1（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Bin3_short +1.29σ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）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；其餘 within 門檻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4543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Bin3_short（%）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14173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645920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15568" y="1645920"/>
            <a:ext cx="813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(653)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1892808"/>
            <a:ext cx="14173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1892808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15568" y="1892808"/>
            <a:ext cx="813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+1.29σ (47)</a:t>
            </a:r>
            <a:endParaRPr lang="en-US" sz="10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1627632"/>
            <a:ext cx="3929307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Yield 總覽 trend（附錄：綠燈 item） ｜ TMRX12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TMRX12：FAB15（47pcs） vs FAB18（653pcs）：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綠燈 item 2 個，全部 within 門檻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Yield（%）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645920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24128" y="164592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(653)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892808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189280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24128" y="1892808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−0.44σ (47)</a:t>
            </a:r>
            <a:endParaRPr lang="en-US" sz="9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627632"/>
            <a:ext cx="2295144" cy="127998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306824" y="1371600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Bin7_open（%）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306824" y="1645920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43400" y="1645920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782312" y="164592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(653)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306824" y="1892808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343400" y="189280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782312" y="1892808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−0.25σ (47)</a:t>
            </a:r>
            <a:endParaRPr lang="en-US" sz="9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6984" y="1627632"/>
            <a:ext cx="2295144" cy="127998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Yield 總覽 trend ｜ TMTQ11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TMTQ11：FAB15（80pcs） vs FAB18（836pcs）：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 1（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Bin7_open +2.25σ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）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、黃 1（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Yield −1.29σ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）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；其餘 within 門檻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4543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Yield（%）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14173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645920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15568" y="1645920"/>
            <a:ext cx="813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(836)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1892808"/>
            <a:ext cx="14173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1892808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15568" y="1892808"/>
            <a:ext cx="813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−1.29σ (80)</a:t>
            </a:r>
            <a:endParaRPr lang="en-US" sz="10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1627632"/>
            <a:ext cx="3929307" cy="21488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185916" y="1371600"/>
            <a:ext cx="54543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Bin7_open（%）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85916" y="1645920"/>
            <a:ext cx="14173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22492" y="1645920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752844" y="1645920"/>
            <a:ext cx="813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(836)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185916" y="1892808"/>
            <a:ext cx="14173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22492" y="1892808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752844" y="1892808"/>
            <a:ext cx="813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+2.25σ (80)</a:t>
            </a:r>
            <a:endParaRPr lang="en-US" sz="10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4676" y="1627632"/>
            <a:ext cx="3929307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Yield 總覽 trend（附錄：綠燈 item） ｜ TMTQ11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TMTQ11：FAB15（80pcs） vs FAB18（836pcs）：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綠燈 item 1 個，全部 within 門檻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Bin3_short（%）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645920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24128" y="164592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(836)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892808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189280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24128" y="1892808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−0.05σ (80)</a:t>
            </a:r>
            <a:endParaRPr lang="en-US" sz="9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627632"/>
            <a:ext cx="2295144" cy="1279984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Yield 總覽 trend（附錄：綠燈 item） ｜ TMWF54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TMWF54：FAB15（215pcs） vs FAB18（953pcs）：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綠燈 item 3 個，全部 within 門檻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Yield（%）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645920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24128" y="164592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(953)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892808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189280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24128" y="1892808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+0.01σ (215)</a:t>
            </a:r>
            <a:endParaRPr lang="en-US" sz="9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627632"/>
            <a:ext cx="2295144" cy="127998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306824" y="1371600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Bin3_short（%）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306824" y="1645920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43400" y="1645920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782312" y="164592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(953)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306824" y="1892808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343400" y="189280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782312" y="1892808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+0.08σ (215)</a:t>
            </a:r>
            <a:endParaRPr lang="en-US" sz="9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6984" y="1627632"/>
            <a:ext cx="2295144" cy="127998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065008" y="1371600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Bin7_open（%）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8065008" y="1645920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101584" y="1645920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FAB18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8540496" y="164592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(953)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8065008" y="1892808"/>
            <a:ext cx="118872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101584" y="189280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F3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FAB15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8540496" y="1892808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−0.07σ (215)</a:t>
            </a:r>
            <a:endParaRPr lang="en-US" sz="90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5168" y="1627632"/>
            <a:ext cx="2295144" cy="1279984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83680"/>
            <a:ext cx="1218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087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WAT：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 3、黃 3、綠 25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SPA_M12 @ TMRX12：FAB15 +16.2%pt（同層 M12 CD AEI +2.18σ 有關聯）；SPA_M13 @ TMRX12：FAB15 +8.0%pt（同層 M13 CD AEI +0.66σ 有關聯）；Rc_V12 @ TMTQ11：FAB15 +2.33σ（同層 V12 CD AEI −2.79σ 有關聯）</a:t>
            </a:r>
            <a:pPr indent="0" marL="0">
              <a:spcAft>
                <a:spcPts val="400"/>
              </a:spcAft>
              <a:buNone/>
            </a:pP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Inline：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 3、黃 0、綠 21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V12 CD AEI @ TMTQ11：FAB15 −2.79σ，W2W σ ×1.46（同層 Rc_V12 +2.33σ）；M12 CD AEI @ TMRX12：FAB15 +2.18σ（同層 Con_M12 −0.88σ）；M13 THK @ TMWF54：FAB15 −1.63σ（同層 Con_M13 +1.38σ）</a:t>
            </a:r>
            <a:pPr indent="0" marL="0">
              <a:spcAft>
                <a:spcPts val="400"/>
              </a:spcAft>
              <a:buNone/>
            </a:pP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Yield：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 1、黃 2、綠 9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Bin7_open @ TMTQ11：FAB15 +2.25σ（WAT Rc_V12 +2.33σ）；Yield @ TMTQ11：FAB15 −1.29σ（WAT Rc_V12 +2.33σ）；Bin3_short @ TMRX12：FAB15 +1.29σ（WAT LK_M12 ×2.96）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3447288"/>
            <a:ext cx="146304" cy="14630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F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3383280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資料品質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73075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SPA_M13 @ TMRF89：FAB15 無資料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BEOL 分析戰報</dc:title>
  <dc:subject>PptxGenJS Presentation</dc:subject>
  <dc:creator>PptxGenJS</dc:creator>
  <cp:lastModifiedBy>PptxGenJS</cp:lastModifiedBy>
  <cp:revision>1</cp:revision>
  <dcterms:created xsi:type="dcterms:W3CDTF">2026-10-18T17:55:43Z</dcterms:created>
  <dcterms:modified xsi:type="dcterms:W3CDTF">2026-10-18T17:55:43Z</dcterms:modified>
</cp:coreProperties>
</file>