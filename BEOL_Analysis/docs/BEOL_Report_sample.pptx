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BEOL 分析戰報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2026/10/05 01:51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FAB15（CIP） vs FAB18（BSL）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資料：WAT_FAB_compare.xlsx　｜　期間：2026/04/01 ～ 2026/10/01　｜　wafer 數：FAB18 3174、FAB15 397　｜　分組：Part6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　</a:t>
            </a:r>
            <a:pPr indent="0" marL="0">
              <a:buNone/>
            </a:pPr>
            <a:r>
              <a:rPr lang="en-US" sz="1400" b="1" dirty="0">
                <a:solidFill>
                  <a:srgbClr val="1E8E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 25　</a:t>
            </a:r>
            <a:pPr indent="0" marL="0">
              <a:buNone/>
            </a:pPr>
            <a:r>
              <a:rPr lang="en-US" sz="1400" b="1" dirty="0">
                <a:solidFill>
                  <a:srgbClr val="A86B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 3　</a:t>
            </a:r>
            <a:pPr indent="0" marL="0">
              <a:buNone/>
            </a:pPr>
            <a:r>
              <a:rPr lang="en-US" sz="1400" b="1" dirty="0">
                <a:solidFill>
                  <a:srgbClr val="D458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3　</a:t>
            </a:r>
            <a:pPr indent="0" marL="0">
              <a:buNone/>
            </a:pPr>
            <a:r>
              <a:rPr lang="en-US" sz="140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無法判定 1　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112471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58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【橘】SPA_M12 @ TMRX12：FAB15 漏電異常比例上升（讀值低於固定值）（異常 19%）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58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【橘】SPA_M13 @ TMRX12：FAB15 漏電異常比例上升（讀值低於固定值）（異常 11%）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58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【橘】Rc_V12 @ TMTQ11：FAB15 Via 導通變差（K +2.33σ）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【黃】LK_M12 @ TMRX12：FAB15 線間絕緣變差（×2.96）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【黃】Con_M13 @ TMWF54：FAB15 金屬線變細或變薄（K +1.38σ）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【黃】SPA_M13 @ TMWF54：FAB15 漏電異常比例上升（讀值低於固定值）（異常 5.6%）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3434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　</a:t>
            </a:r>
            <a:pPr indent="0" marL="0">
              <a:buNone/>
            </a:pPr>
            <a:r>
              <a:rPr lang="en-US" sz="1400" b="1" dirty="0">
                <a:solidFill>
                  <a:srgbClr val="1E8E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 21　</a:t>
            </a:r>
            <a:pPr indent="0" marL="0">
              <a:buNone/>
            </a:pPr>
            <a:r>
              <a:rPr lang="en-US" sz="1400" b="1" dirty="0">
                <a:solidFill>
                  <a:srgbClr val="A86B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 0　</a:t>
            </a:r>
            <a:pPr indent="0" marL="0">
              <a:buNone/>
            </a:pPr>
            <a:r>
              <a:rPr lang="en-US" sz="1400" b="1" dirty="0">
                <a:solidFill>
                  <a:srgbClr val="D458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 3　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變異放大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58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【橘】V12 CD AEI @ TMTQ11：FAB15 Via CD 偏小（K −2.79σ）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58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【橘】M12 CD AEI @ TMRX12：FAB15 線寬偏大（space 變小）（K +2.18σ）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580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【橘】M13 THK @ TMWF54：FAB15 Cu 厚度偏薄（K −1.63σ）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【黃】V12 CD AEI @ TMTQ11：FAB15 wafer 間變異放大（σ ×1.46）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【黃】M12 CD AEI @ TMWF54：FAB15 wafer 間變異放大（σ ×1.42）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判斷：K = (Mean CIP − Mean BSL) / σ BSL，綠 ≤ 1σ、橘 &gt; 1.5σ；LK median 倍數 綠 ≤ ×2、橘 &gt; ×5；SPA 異常率差 綠 ≤ 2%pt、橘 &gt; 5%pt；Inline σ 倍數 綠 ≤ ×1.3、橘 &gt; ×1.6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點燈表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Part6 分組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2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08276" y="868680"/>
          <a:ext cx="7772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463040"/>
                <a:gridCol w="146304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WAT item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Part6 →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TMRF89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TMRX12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TMTQ11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TMWF54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Rs（金屬線阻值）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Con_M12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−0.57σ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−0.88σ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−0.29σ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+0.22σ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Con_M13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+0.38σ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−0.35σ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+0.13σ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6B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+1.38σ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3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LK（線間漏電）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LK_M12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×1.19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6B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×2.96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×0.92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×0.99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LK_M13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×0.71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×1.36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×1.20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×1.12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Rc（Via／Contact 阻值）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Rc_V11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−0.43σ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+0.26σ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−0.10σ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Rc_V12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−0.08σ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−0.31σ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58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+2.33σ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−0.09σ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SPA（線間漏電，電壓輸出）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SPA_M12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−0.8%pt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58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+16.2%pt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−1.7%pt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−0.3%pt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SPA_M13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8A2B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58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+8.0%pt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−0.8%pt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6B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+2.9%pt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61264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 = K-shift（σ）；LK 為 median 倍數（×）；SPA 為異常率差（%pt）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HL｜SPA_M12 @ TMRX12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橘燈　+16.2%pt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D4580F"/>
          </a:solidFill>
          <a:ln w="12700">
            <a:solidFill>
              <a:srgbClr val="D458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SPA_M12 @ TMRX12：FAB15 漏電異常比例上升（讀值低於固定值）（異常 19%）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SPA_M12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SPA_M12 vs M12 CD AEI　r = -0.29，預期負相關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偏離固定值 20 V 的比例：FAB15 19% vs BSL 2.9%（+16.2%pt）· N 47 / 653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佐證：M12 CD AEI +2.18σ，方向與 WAT 一致 → 主因很可能是 CD 偏移。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可能原因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金屬線 CD 偏大、space 變小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CMP 後 Cu 殘留、橋接（bridge）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Low-k 損傷（plasma damage、吸濕）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Barrier 擴散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trench CD（AEI）→ 換算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Post-CMP 缺陷掃描（Cu residue、bridge）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 wafer 的 die 位置是否集中（edge／特定 shot）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CMP clean recipe、low-k 製程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HL｜SPA_M13 @ TMRX12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橘燈　+8.0%pt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D4580F"/>
          </a:solidFill>
          <a:ln w="12700">
            <a:solidFill>
              <a:srgbClr val="D458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SPA_M13 @ TMRX12：FAB15 漏電異常比例上升（讀值低於固定值）（異常 11%）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SPA_M13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SPA_M13 vs M13 CD AEI　r = -0.20，預期負相關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偏離固定值 20 V 的比例：FAB15 11% vs BSL 2.6%（+8.0%pt）· N 47 / 653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佐證：M13 CD AEI +0.66σ，方向與 WAT 一致 → 主因很可能是 CD 偏移。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可能原因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金屬線 CD 偏大、space 變小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CMP 後 Cu 殘留、橋接（bridge）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Low-k 損傷（plasma damage、吸濕）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Barrier 擴散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trench CD（AEI）→ 換算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Post-CMP 缺陷掃描（Cu residue、bridge）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 wafer 的 die 位置是否集中（edge／特定 shot）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CMP clean recipe、low-k 製程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HL｜Rc_V12 @ TMTQ11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橘燈　+2.33σ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D4580F"/>
          </a:solidFill>
          <a:ln w="12700">
            <a:solidFill>
              <a:srgbClr val="D458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@ TMTQ11：FAB15 Via 導通變差（K +2.33σ）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vs V12 CD AEI　r = -0.84，預期負相關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 mean 10.18 vs BSL 9.009 OHM（+13.0%） · N 80 / 836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佐證：V12 CD AEI −2.79σ，方向與 WAT 一致 → 主因很可能是 Via CD 偏移。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可能原因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Via CD 偏小（底部接觸面積變小）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Via 底部殘留（polymer、etch stop 未開完全）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Barrier／liner 偏厚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Via 與下層金屬對準偏移（overlay）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via CD（ADI／AEI）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Via etch chamber、wet clean 條件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Barrier PVD 厚度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overlay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HL｜LK_M12 @ TMRX12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黃燈　×2.96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A86B00"/>
          </a:solidFill>
          <a:ln w="12700">
            <a:solidFill>
              <a:srgbClr val="A8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LK_M12 @ TMRX12：FAB15 線間絕緣變差（×2.96）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LK_M12 trend（log 軸）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LK_M12 vs M12 CD AEI　r = 0.81（log），預期正相關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 median 5.908e-11 vs BSL 1.996e-11 A（高 2.96 倍）· N 47 / 653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佐證：M12 CD AEI +2.18σ，方向與 WAT 一致 → 主因很可能是 CD 偏移。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可能原因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金屬線 CD 偏大、間距（space）變小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CMP 後 Cu 殘留或清洗不足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Low-k 損傷（plasma damage、吸濕）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Barrier 擴散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trench CD（AEI）→ 換算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Post-CMP 缺陷掃描（Cu residue）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CMP clean recipe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Low-k 厚度與 k 值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HL｜Con_M13 @ TMWF54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黃燈　+1.38σ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A86B00"/>
          </a:solidFill>
          <a:ln w="12700">
            <a:solidFill>
              <a:srgbClr val="A8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Con_M13 @ TMWF54：FAB15 金屬線變細或變薄（K +1.38σ）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Con_M13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Con_M13 vs M13 THK　r = -0.87，預期負相關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 mean 0.2361 vs BSL 0.2273 OHM/SQ（+3.9%） · N 215 / 953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佐證：M13 THK −1.63σ，方向與 WAT 一致 → 主因很可能是 THK 偏移。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可能原因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 厚度偏薄（CMP 過拋、dishing／erosion）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線寬 CD 偏小（litho／trench etch）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Barrier／liner 偏厚，Cu 截面變小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 電鍍異常（void、晶粒偏小）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post-CMP THK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trench CD（AEI）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CMP 機台／pad life、slurry lot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ECP 電鍍條件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HL｜SPA_M13 @ TMWF54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黃燈　+2.9%pt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A86B00"/>
          </a:solidFill>
          <a:ln w="12700">
            <a:solidFill>
              <a:srgbClr val="A8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SPA_M13 @ TMWF54：FAB15 漏電異常比例上升（讀值低於固定值）（異常 5.6%）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SPA_M13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SPA_M13 vs M13 CD AEI　r = -0.16，預期負相關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偏離固定值 20 V 的比例：FAB15 5.6% vs BSL 2.7%（+2.9%pt）· N 215 / 953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對照：M13 CD AEI +0.20σ 沒有明顯偏移 → 較不像尺寸造成，優先查製程條件（缺陷／材料）與機台 commonality。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可能原因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金屬線 CD 偏大、space 變小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CMP 後 Cu 殘留、橋接（bridge）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Low-k 損傷（plasma damage、吸濕）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Barrier 擴散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trench CD（AEI）→ 換算 space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Post-CMP 缺陷掃描（Cu residue、bridge）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 wafer 的 die 位置是否集中（edge／特定 shot）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CMP clean recipe、low-k 製程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總覽 Trend（1/3）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 = BSL FAB18；彩色 = CIP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TMRF89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87368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65976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44584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TMWF54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133856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Con_M12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OHM/SQ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536192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−0.57σ  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380744"/>
            <a:ext cx="2450592" cy="117202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114800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42232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−0.88σ  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376" y="1380744"/>
            <a:ext cx="2450592" cy="117202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93408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0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−0.29σ  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1380744"/>
            <a:ext cx="2450592" cy="117202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272016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299448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+0.22σ  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380744"/>
            <a:ext cx="2450592" cy="117202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74320" y="2944368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Con_M13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OHM/SQ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536192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563624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+0.38σ  </a:t>
            </a:r>
            <a:endParaRPr lang="en-US" sz="9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3191256"/>
            <a:ext cx="2450592" cy="117202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114800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142232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−0.35σ  </a:t>
            </a:r>
            <a:endParaRPr lang="en-US" sz="9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3191256"/>
            <a:ext cx="2450592" cy="117202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693408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720840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+0.13σ  </a:t>
            </a:r>
            <a:endParaRPr lang="en-US" sz="9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191256"/>
            <a:ext cx="2450592" cy="117202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272016" y="2944368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A86B00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9299448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+1.38σ  </a:t>
            </a:r>
            <a:endParaRPr lang="en-US" sz="9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3191256"/>
            <a:ext cx="2450592" cy="117202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74320" y="4754880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LK_M12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A・log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1536192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1563624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×1.19  </a:t>
            </a:r>
            <a:endParaRPr lang="en-US" sz="95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2768" y="5001768"/>
            <a:ext cx="2450592" cy="1172022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4114800" y="4754880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A86B00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4142232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×2.96  </a:t>
            </a:r>
            <a:endParaRPr lang="en-US" sz="95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1376" y="5001768"/>
            <a:ext cx="2450592" cy="117202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693408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6720840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×0.92  </a:t>
            </a:r>
            <a:endParaRPr lang="en-US" sz="95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9984" y="5001768"/>
            <a:ext cx="2450592" cy="1172022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9272016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9299448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×0.99  </a:t>
            </a:r>
            <a:endParaRPr lang="en-US" sz="95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08592" y="5001768"/>
            <a:ext cx="2450592" cy="11720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總覽 Trend（2/3）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 = BSL FAB18；彩色 = CIP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TMRF89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87368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65976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44584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TMWF54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133856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LK_M13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A・log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536192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×0.71  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380744"/>
            <a:ext cx="2450592" cy="117202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114800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42232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×1.36  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376" y="1380744"/>
            <a:ext cx="2450592" cy="117202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93408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0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×1.20  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1380744"/>
            <a:ext cx="2450592" cy="117202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272016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299448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×1.12  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380744"/>
            <a:ext cx="2450592" cy="117202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74320" y="2944368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Rc_V11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OHM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536192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563624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−0.43σ  </a:t>
            </a:r>
            <a:endParaRPr lang="en-US" sz="9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3191256"/>
            <a:ext cx="2450592" cy="117202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114800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142232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+0.29σ  </a:t>
            </a:r>
            <a:endParaRPr lang="en-US" sz="9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3191256"/>
            <a:ext cx="2450592" cy="117202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693408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720840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+0.26σ  </a:t>
            </a:r>
            <a:endParaRPr lang="en-US" sz="9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191256"/>
            <a:ext cx="2450592" cy="117202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272016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9299448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−0.10σ  </a:t>
            </a:r>
            <a:endParaRPr lang="en-US" sz="9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3191256"/>
            <a:ext cx="2450592" cy="117202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74320" y="4754880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OHM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1536192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1563624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−0.08σ  </a:t>
            </a:r>
            <a:endParaRPr lang="en-US" sz="95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2768" y="5001768"/>
            <a:ext cx="2450592" cy="1172022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4114800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4142232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−0.31σ  </a:t>
            </a:r>
            <a:endParaRPr lang="en-US" sz="95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1376" y="5001768"/>
            <a:ext cx="2450592" cy="117202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693408" y="4754880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4580F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6720840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58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+2.33σ  </a:t>
            </a:r>
            <a:endParaRPr lang="en-US" sz="95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9984" y="5001768"/>
            <a:ext cx="2450592" cy="1172022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9272016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9299448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−0.09σ  </a:t>
            </a:r>
            <a:endParaRPr lang="en-US" sz="95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08592" y="5001768"/>
            <a:ext cx="2450592" cy="11720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 總覽 Trend（3/3）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 = BSL FAB18；彩色 = CIP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TMRF89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87368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65976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44584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TMWF54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133856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SPA_M12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V・固定值 20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536192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−0.8%pt  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380744"/>
            <a:ext cx="2450592" cy="117202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114800" y="1133856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4580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42232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58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+16.2%pt  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376" y="1380744"/>
            <a:ext cx="2450592" cy="117202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93408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0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−1.7%pt  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1380744"/>
            <a:ext cx="2450592" cy="117202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272016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299448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−0.3%pt  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380744"/>
            <a:ext cx="2450592" cy="117202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74320" y="2944368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SPA_M13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V・固定值 20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536192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563624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8A2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 </a:t>
            </a:r>
            <a:endParaRPr lang="en-US" sz="9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3191256"/>
            <a:ext cx="2450592" cy="117202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114800" y="2944368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4580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142232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58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+8.0%pt  </a:t>
            </a:r>
            <a:endParaRPr lang="en-US" sz="9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3191256"/>
            <a:ext cx="2450592" cy="117202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693408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720840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−0.8%pt  </a:t>
            </a:r>
            <a:endParaRPr lang="en-US" sz="9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191256"/>
            <a:ext cx="2450592" cy="117202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272016" y="2944368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A86B00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9299448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+2.9%pt  </a:t>
            </a:r>
            <a:endParaRPr lang="en-US" sz="9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3191256"/>
            <a:ext cx="2450592" cy="11720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點燈表（均值 K-shift）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Part6 分組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12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08276" y="868680"/>
          <a:ext cx="7772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463040"/>
                <a:gridCol w="146304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Inline item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Part6 →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TMRF89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TMRX12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TMTQ11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TMWF54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CD（inline）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+0.51σ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58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+2.18σ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−0.10σ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+0.07σ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−0.86σ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+0.66σ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+0.39σ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+0.20σ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Via CD（inline）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V11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−0.28σ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−0.29σ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−0.04σ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V12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+0.02σ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+0.38σ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58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−2.79σ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+0.15σ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THK（inline）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THK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+0.46σ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+0.22σ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+0.26σ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−0.21σ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THK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−0.22σ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+0.26σ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−0.25σ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580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−1.63σ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6D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61264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 = K-shift（σ）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變異比較（W2W／WIW σ 倍數）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Part6 分組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13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08276" y="868680"/>
          <a:ext cx="7772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463040"/>
                <a:gridCol w="146304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Inline item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Part6 →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TMRF89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TMRX12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TMTQ11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TMWF54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63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CD（inline）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×0.79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×1.00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×0.78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6B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×1.42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×0.65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×1.01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×0.67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×0.92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Via CD（inline）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V11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×0.78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×1.02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×0.92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×0.97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V12 CD AEI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×0.59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×0.95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86B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×1.46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×1.00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6708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THK（inline）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M12 THK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×0.49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×0.79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×0.76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×0.92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M13 THK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×0.67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×0.57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E4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W2W ×0.72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5E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612648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σ 倍數 = CIP ÷ BSL；綠 ≤ ×1.3、黃 ×1.3–1.6、橘 &gt; ×1.6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HL｜V12 CD AEI @ TMTQ11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橘燈　−2.79σ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D4580F"/>
          </a:solidFill>
          <a:ln w="12700">
            <a:solidFill>
              <a:srgbClr val="D458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CD AEI @ TMTQ11：FAB15 Via CD 偏小（K −2.79σ）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CD AEI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Rc_V12 vs V12 CD AEI　r = -0.84，預期負相關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 mean 43.03 vs BSL 45.91 nm（-6.3%） · N 45 / 498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WAT 的預期影響：Rc_V12 預期上升 → 目前已同向偏移（K +2.33σ）。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可能原因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Via litho dose 不足／focus 偏移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Via etch 不足（polymer 偏多、etch stop 未開）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Via 底部 taper 變大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ADI CD（分辨是 litho 還是 etch）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Via etch chamber、polymer／clean 條件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Via 截面 TEM（底部 CD）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HL｜M12 CD AEI @ TMRX12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橘燈　+2.18σ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D4580F"/>
          </a:solidFill>
          <a:ln w="12700">
            <a:solidFill>
              <a:srgbClr val="D458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CD AEI @ TMRX12：FAB15 線寬偏大（space 變小）（K +2.18σ）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CD AEI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Con_M12 vs M12 CD AEI　r = -0.47，預期負相關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 mean 50.32 vs BSL 48.01 nm（+4.8%） · N 28 / 386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WAT 的預期影響：Con_M12 預期下降 → 目前尚在綠燈；LK_M12 預期上升 → 目前已同向偏移（×2.96）；SPA_M12 預期上升 → 目前已同向偏移（異常 19%）。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可能原因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Trench litho dose／focus 偏移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Trench etch bias 變大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Hardmask 開口偏大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ADI CD（分辨是 litho 還是 etch）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Trench etch chamber、bias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Scanner dose／focus log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HL｜M13 THK @ TMWF54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橘燈　−1.63σ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D4580F"/>
          </a:solidFill>
          <a:ln w="12700">
            <a:solidFill>
              <a:srgbClr val="D458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THK @ TMWF54：FAB15 Cu 厚度偏薄（K −1.63σ）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THK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38221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Con_M13 vs M13 THK　r = -0.87，預期負相關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023360"/>
            <a:ext cx="6675120" cy="2286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FAB15 mean 1443 vs BSL 1502 A（-3.9%） · N 136 / 598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WAT 的預期影響：Con_M13 預期上升 → 目前已同向偏移（K +1.38σ）。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可能原因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CMP 過拋（pad life 末期、slurry 變化）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Dishing／erosion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Trench 深度偏淺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CMP 機台、pad life、slurry lot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dishing／erosion 監控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Trench depth（etch）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HL｜V12 CD AEI @ TMTQ11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黃燈　W2W σ ×1.46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A86B00"/>
          </a:solidFill>
          <a:ln w="12700">
            <a:solidFill>
              <a:srgbClr val="A8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CD AEI @ TMTQ11：FAB15 wafer 間變異放大（σ ×1.46）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CD AEI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wafer 間 σ：FAB15 1.505 vs BSL 1.033 nm　均值 −2.79σ（橘燈）· N 45 / 498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Wafer 間 σ 是各片 wafer mean 的標準差；均值可能正常，但片與片之間不穩。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可能原因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不同機台／chamber 間 mismatch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Lot-to-lot 控制不穩（APC 回饋、pad life 跨度大）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量測機台 matching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chamber／機台分組比較 CIP wafer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APC log 與 pad／parts life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量測機台 matching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HL｜M12 CD AEI @ TMWF54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黃燈　W2W σ ×1.42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82296" cy="384048"/>
          </a:xfrm>
          <a:prstGeom prst="rect">
            <a:avLst/>
          </a:prstGeom>
          <a:solidFill>
            <a:srgbClr val="A86B00"/>
          </a:solidFill>
          <a:ln w="12700">
            <a:solidFill>
              <a:srgbClr val="A86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8229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CD AEI @ TMWF54：FAB15 wafer 間變異放大（σ ×1.42）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CD AEI trend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667512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69480" y="1325880"/>
            <a:ext cx="4553712" cy="4983480"/>
          </a:xfrm>
          <a:prstGeom prst="rect">
            <a:avLst/>
          </a:prstGeom>
          <a:solidFill>
            <a:srgbClr val="F7F9FC"/>
          </a:solidFill>
          <a:ln/>
        </p:spPr>
        <p:txBody>
          <a:bodyPr wrap="square" lIns="76200" tIns="76200" rIns="76200" bIns="7620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wafer 間 σ：FAB15 1.343 vs BSL 0.9454 nm　均值 +0.07σ（綠燈）· N 136 / 598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Wafer 間 σ 是各片 wafer mean 的標準差；均值可能正常，但片與片之間不穩。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可能原因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不同機台／chamber 間 mismatch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Lot-to-lot 控制不穩（APC 回饋、pad life 跨度大）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量測機台 matching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建議檢查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chamber／機台分組比較 CIP wafer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APC log 與 pad／parts life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量測機台 matching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總覽 Trend（1/2）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 = BSL FAB18；彩色 = CIP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19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TMRF89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87368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65976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44584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TMWF54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133856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CD AEI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536192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+0.51σ  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380744"/>
            <a:ext cx="2450592" cy="117202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114800" y="1133856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4580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42232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58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+2.18σ  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376" y="1380744"/>
            <a:ext cx="2450592" cy="117202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93408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0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−0.10σ  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1380744"/>
            <a:ext cx="2450592" cy="117202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272016" y="1133856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A86B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299448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+0.07σ  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380744"/>
            <a:ext cx="2450592" cy="117202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74320" y="2944368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CD AEI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nm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536192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563624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−0.86σ  </a:t>
            </a:r>
            <a:endParaRPr lang="en-US" sz="9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3191256"/>
            <a:ext cx="2450592" cy="117202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114800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142232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+0.66σ  </a:t>
            </a:r>
            <a:endParaRPr lang="en-US" sz="9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3191256"/>
            <a:ext cx="2450592" cy="117202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693408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720840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+0.39σ  </a:t>
            </a:r>
            <a:endParaRPr lang="en-US" sz="9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191256"/>
            <a:ext cx="2450592" cy="117202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272016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9299448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+0.20σ  </a:t>
            </a:r>
            <a:endParaRPr lang="en-US" sz="9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3191256"/>
            <a:ext cx="2450592" cy="117202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74320" y="4754880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V11 CD AEI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nm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1536192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1563624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+0.19σ  </a:t>
            </a:r>
            <a:endParaRPr lang="en-US" sz="95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2768" y="5001768"/>
            <a:ext cx="2450592" cy="1172022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4114800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4142232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−0.28σ  </a:t>
            </a:r>
            <a:endParaRPr lang="en-US" sz="95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1376" y="5001768"/>
            <a:ext cx="2450592" cy="117202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693408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6720840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−0.29σ  </a:t>
            </a:r>
            <a:endParaRPr lang="en-US" sz="95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9984" y="5001768"/>
            <a:ext cx="2450592" cy="1172022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9272016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9299448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−0.04σ  </a:t>
            </a:r>
            <a:endParaRPr lang="en-US" sz="95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08592" y="5001768"/>
            <a:ext cx="2450592" cy="117202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F3B63"/>
          </a:solidFill>
          <a:ln w="12700">
            <a:solidFill>
              <a:srgbClr val="1F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Inline 總覽 Trend（2/2）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778240" y="18288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 = BSL FAB18；彩色 = CIP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57432" cy="0"/>
          </a:xfrm>
          <a:prstGeom prst="line">
            <a:avLst/>
          </a:prstGeom>
          <a:noFill/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8A2B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WAT_FAB_compare.xlsx　｜　FAB15 vs FAB18　｜　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TMRF89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87368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TMRX12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65976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TMTQ11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244584" y="841248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TMWF54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133856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V12 CD AEI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536192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+0.02σ  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380744"/>
            <a:ext cx="2450592" cy="117202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114800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42232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+0.38σ  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376" y="1380744"/>
            <a:ext cx="2450592" cy="117202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693408" y="1133856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4580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720840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58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−2.79σ  </a:t>
            </a:r>
            <a:endParaRPr lang="en-US" sz="9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84" y="1380744"/>
            <a:ext cx="2450592" cy="117202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272016" y="1133856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299448" y="11521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+0.15σ  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1380744"/>
            <a:ext cx="2450592" cy="117202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74320" y="2944368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M12 THK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1536192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1563624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+0.46σ  </a:t>
            </a:r>
            <a:endParaRPr lang="en-US" sz="9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8" y="3191256"/>
            <a:ext cx="2450592" cy="117202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114800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142232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+0.22σ  </a:t>
            </a:r>
            <a:endParaRPr lang="en-US" sz="9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3191256"/>
            <a:ext cx="2450592" cy="117202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693408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720840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+0.26σ  </a:t>
            </a:r>
            <a:endParaRPr lang="en-US" sz="9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191256"/>
            <a:ext cx="2450592" cy="117202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272016" y="2944368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9299448" y="296265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−0.21σ  </a:t>
            </a:r>
            <a:endParaRPr lang="en-US" sz="9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8592" y="3191256"/>
            <a:ext cx="2450592" cy="117202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74320" y="4754880"/>
            <a:ext cx="11887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M13 THK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1536192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1563624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−0.22σ  </a:t>
            </a:r>
            <a:endParaRPr lang="en-US" sz="95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2768" y="5001768"/>
            <a:ext cx="2450592" cy="1172022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4114800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4142232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+0.26σ  </a:t>
            </a:r>
            <a:endParaRPr lang="en-US" sz="95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1376" y="5001768"/>
            <a:ext cx="2450592" cy="117202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693408" y="4754880"/>
            <a:ext cx="252374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6720840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E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−0.25σ  </a:t>
            </a:r>
            <a:endParaRPr lang="en-US" sz="95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9984" y="5001768"/>
            <a:ext cx="2450592" cy="1172022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9272016" y="4754880"/>
            <a:ext cx="25237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4580F"/>
            </a:solidFill>
            <a:prstDash val="solid"/>
          </a:ln>
        </p:spPr>
      </p:sp>
      <p:sp>
        <p:nvSpPr>
          <p:cNvPr id="48" name="Text 35"/>
          <p:cNvSpPr/>
          <p:nvPr/>
        </p:nvSpPr>
        <p:spPr>
          <a:xfrm>
            <a:off x="9299448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58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−1.63σ  </a:t>
            </a:r>
            <a:endParaRPr lang="en-US" sz="950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08592" y="5001768"/>
            <a:ext cx="2450592" cy="11720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分析戰報</dc:title>
  <dc:subject>PptxGenJS Presentation</dc:subject>
  <dc:creator>PptxGenJS</dc:creator>
  <cp:lastModifiedBy>PptxGenJS</cp:lastModifiedBy>
  <cp:revision>1</cp:revision>
  <dcterms:created xsi:type="dcterms:W3CDTF">2026-10-04T17:51:55Z</dcterms:created>
  <dcterms:modified xsi:type="dcterms:W3CDTF">2026-10-04T17:51:55Z</dcterms:modified>
</cp:coreProperties>
</file>